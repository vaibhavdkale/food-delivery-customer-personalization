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60" r:id="rId3"/>
    <p:sldId id="259" r:id="rId4"/>
    <p:sldId id="279" r:id="rId5"/>
    <p:sldId id="280" r:id="rId6"/>
    <p:sldId id="258" r:id="rId7"/>
    <p:sldId id="270" r:id="rId8"/>
    <p:sldId id="264" r:id="rId9"/>
    <p:sldId id="265" r:id="rId10"/>
    <p:sldId id="271" r:id="rId11"/>
    <p:sldId id="281" r:id="rId12"/>
    <p:sldId id="269" r:id="rId13"/>
    <p:sldId id="272" r:id="rId14"/>
    <p:sldId id="273" r:id="rId15"/>
    <p:sldId id="274" r:id="rId16"/>
    <p:sldId id="275" r:id="rId17"/>
    <p:sldId id="266" r:id="rId18"/>
    <p:sldId id="267" r:id="rId19"/>
    <p:sldId id="268" r:id="rId20"/>
    <p:sldId id="261" r:id="rId21"/>
    <p:sldId id="276" r:id="rId22"/>
    <p:sldId id="277" r:id="rId23"/>
    <p:sldId id="278" r:id="rId24"/>
    <p:sldId id="26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FC8019"/>
    <a:srgbClr val="FFFFFF"/>
    <a:srgbClr val="003366"/>
    <a:srgbClr val="E23744"/>
    <a:srgbClr val="F8F9FA"/>
    <a:srgbClr val="E9ECEF"/>
    <a:srgbClr val="F4F4F6"/>
    <a:srgbClr val="EF4444"/>
    <a:srgbClr val="FBBF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varScale="1">
        <p:scale>
          <a:sx n="74" d="100"/>
          <a:sy n="74" d="100"/>
        </p:scale>
        <p:origin x="10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vaiba\Downloads\Customer%20Survey.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vaiba\Downloads\Customer%20Survey.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vaiba\Downloads\Customer%20Survey.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vaiba\Downloads\Customer%20Survey.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vaiba\Downloads\Customer%20Survey.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sz="2000" b="1"/>
              <a:t>Preferred Food Delivery App</a:t>
            </a:r>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Sheet9!$G$33</c:f>
              <c:strCache>
                <c:ptCount val="1"/>
                <c:pt idx="0">
                  <c:v>Percentage</c:v>
                </c:pt>
              </c:strCache>
            </c:strRef>
          </c:tx>
          <c:spPr>
            <a:solidFill>
              <a:schemeClr val="accent1"/>
            </a:solidFill>
            <a:ln>
              <a:noFill/>
            </a:ln>
            <a:effectLst/>
          </c:spPr>
          <c:invertIfNegative val="0"/>
          <c:dPt>
            <c:idx val="0"/>
            <c:invertIfNegative val="0"/>
            <c:bubble3D val="0"/>
            <c:spPr>
              <a:solidFill>
                <a:srgbClr val="E23744"/>
              </a:solidFill>
              <a:ln>
                <a:noFill/>
              </a:ln>
              <a:effectLst/>
            </c:spPr>
            <c:extLst>
              <c:ext xmlns:c16="http://schemas.microsoft.com/office/drawing/2014/chart" uri="{C3380CC4-5D6E-409C-BE32-E72D297353CC}">
                <c16:uniqueId val="{00000001-6E91-435D-BC5F-9B2C835C1E5A}"/>
              </c:ext>
            </c:extLst>
          </c:dPt>
          <c:dPt>
            <c:idx val="1"/>
            <c:invertIfNegative val="0"/>
            <c:bubble3D val="0"/>
            <c:spPr>
              <a:solidFill>
                <a:srgbClr val="FC8019"/>
              </a:solidFill>
              <a:ln>
                <a:noFill/>
              </a:ln>
              <a:effectLst/>
            </c:spPr>
            <c:extLst>
              <c:ext xmlns:c16="http://schemas.microsoft.com/office/drawing/2014/chart" uri="{C3380CC4-5D6E-409C-BE32-E72D297353CC}">
                <c16:uniqueId val="{00000003-6E91-435D-BC5F-9B2C835C1E5A}"/>
              </c:ext>
            </c:extLst>
          </c:dPt>
          <c:dPt>
            <c:idx val="2"/>
            <c:invertIfNegative val="0"/>
            <c:bubble3D val="0"/>
            <c:spPr>
              <a:solidFill>
                <a:srgbClr val="FFC000"/>
              </a:solidFill>
              <a:ln>
                <a:noFill/>
              </a:ln>
              <a:effectLst/>
            </c:spPr>
            <c:extLst>
              <c:ext xmlns:c16="http://schemas.microsoft.com/office/drawing/2014/chart" uri="{C3380CC4-5D6E-409C-BE32-E72D297353CC}">
                <c16:uniqueId val="{00000005-6E91-435D-BC5F-9B2C835C1E5A}"/>
              </c:ext>
            </c:extLst>
          </c:dPt>
          <c:dPt>
            <c:idx val="3"/>
            <c:invertIfNegative val="0"/>
            <c:bubble3D val="0"/>
            <c:spPr>
              <a:solidFill>
                <a:srgbClr val="00B050"/>
              </a:solidFill>
              <a:ln>
                <a:noFill/>
              </a:ln>
              <a:effectLst/>
            </c:spPr>
            <c:extLst>
              <c:ext xmlns:c16="http://schemas.microsoft.com/office/drawing/2014/chart" uri="{C3380CC4-5D6E-409C-BE32-E72D297353CC}">
                <c16:uniqueId val="{00000007-6E91-435D-BC5F-9B2C835C1E5A}"/>
              </c:ext>
            </c:extLst>
          </c:dPt>
          <c:dLbls>
            <c:spPr>
              <a:noFill/>
              <a:ln>
                <a:noFill/>
              </a:ln>
              <a:effectLst/>
            </c:spPr>
            <c:txPr>
              <a:bodyPr rot="-5400000" spcFirstLastPara="1" vertOverflow="ellipsis" wrap="square" anchor="ctr" anchorCtr="1"/>
              <a:lstStyle/>
              <a:p>
                <a:pPr>
                  <a:defRPr sz="1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Sheet9!$F$34:$F$37</c:f>
              <c:strCache>
                <c:ptCount val="4"/>
                <c:pt idx="0">
                  <c:v>Zomato</c:v>
                </c:pt>
                <c:pt idx="1">
                  <c:v>Swiggy</c:v>
                </c:pt>
                <c:pt idx="2">
                  <c:v>Both Equally</c:v>
                </c:pt>
                <c:pt idx="3">
                  <c:v>Other</c:v>
                </c:pt>
              </c:strCache>
            </c:strRef>
          </c:cat>
          <c:val>
            <c:numRef>
              <c:f>Sheet9!$G$34:$G$37</c:f>
              <c:numCache>
                <c:formatCode>0.00%</c:formatCode>
                <c:ptCount val="4"/>
                <c:pt idx="0">
                  <c:v>0.36399999999999999</c:v>
                </c:pt>
                <c:pt idx="1">
                  <c:v>0.254</c:v>
                </c:pt>
                <c:pt idx="2">
                  <c:v>0.32200000000000001</c:v>
                </c:pt>
                <c:pt idx="3">
                  <c:v>5.8999999999999997E-2</c:v>
                </c:pt>
              </c:numCache>
            </c:numRef>
          </c:val>
          <c:extLst>
            <c:ext xmlns:c16="http://schemas.microsoft.com/office/drawing/2014/chart" uri="{C3380CC4-5D6E-409C-BE32-E72D297353CC}">
              <c16:uniqueId val="{00000008-6E91-435D-BC5F-9B2C835C1E5A}"/>
            </c:ext>
          </c:extLst>
        </c:ser>
        <c:dLbls>
          <c:showLegendKey val="0"/>
          <c:showVal val="0"/>
          <c:showCatName val="0"/>
          <c:showSerName val="0"/>
          <c:showPercent val="0"/>
          <c:showBubbleSize val="0"/>
        </c:dLbls>
        <c:gapWidth val="100"/>
        <c:axId val="779839696"/>
        <c:axId val="779843056"/>
      </c:barChart>
      <c:catAx>
        <c:axId val="779839696"/>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779843056"/>
        <c:crosses val="autoZero"/>
        <c:auto val="1"/>
        <c:lblAlgn val="ctr"/>
        <c:lblOffset val="100"/>
        <c:noMultiLvlLbl val="0"/>
      </c:catAx>
      <c:valAx>
        <c:axId val="77984305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779839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sz="1800" b="1" dirty="0"/>
              <a:t>Factors Influencing Use of Food Delivery Apps</a:t>
            </a:r>
            <a:endParaRPr lang="en-US" sz="1800" b="1" dirty="0"/>
          </a:p>
        </c:rich>
      </c:tx>
      <c:layout>
        <c:manualLayout>
          <c:xMode val="edge"/>
          <c:yMode val="edge"/>
          <c:x val="0.16399017721668271"/>
          <c:y val="3.6873829287028544E-2"/>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Sheet9!$H$65</c:f>
              <c:strCache>
                <c:ptCount val="1"/>
                <c:pt idx="0">
                  <c:v>Percentage</c:v>
                </c:pt>
              </c:strCache>
            </c:strRef>
          </c:tx>
          <c:dPt>
            <c:idx val="0"/>
            <c:bubble3D val="0"/>
            <c:spPr>
              <a:solidFill>
                <a:srgbClr val="3B82F6"/>
              </a:solidFill>
              <a:ln w="25400">
                <a:solidFill>
                  <a:schemeClr val="lt1"/>
                </a:solidFill>
              </a:ln>
              <a:effectLst/>
              <a:sp3d contourW="25400">
                <a:contourClr>
                  <a:schemeClr val="lt1"/>
                </a:contourClr>
              </a:sp3d>
            </c:spPr>
            <c:extLst>
              <c:ext xmlns:c16="http://schemas.microsoft.com/office/drawing/2014/chart" uri="{C3380CC4-5D6E-409C-BE32-E72D297353CC}">
                <c16:uniqueId val="{00000001-17FB-4370-9070-0DAB8279DF05}"/>
              </c:ext>
            </c:extLst>
          </c:dPt>
          <c:dPt>
            <c:idx val="1"/>
            <c:bubble3D val="0"/>
            <c:spPr>
              <a:solidFill>
                <a:srgbClr val="10B981"/>
              </a:solidFill>
              <a:ln w="25400">
                <a:solidFill>
                  <a:schemeClr val="lt1"/>
                </a:solidFill>
              </a:ln>
              <a:effectLst/>
              <a:sp3d contourW="25400">
                <a:contourClr>
                  <a:schemeClr val="lt1"/>
                </a:contourClr>
              </a:sp3d>
            </c:spPr>
            <c:extLst>
              <c:ext xmlns:c16="http://schemas.microsoft.com/office/drawing/2014/chart" uri="{C3380CC4-5D6E-409C-BE32-E72D297353CC}">
                <c16:uniqueId val="{00000003-17FB-4370-9070-0DAB8279DF05}"/>
              </c:ext>
            </c:extLst>
          </c:dPt>
          <c:dPt>
            <c:idx val="2"/>
            <c:bubble3D val="0"/>
            <c:spPr>
              <a:solidFill>
                <a:srgbClr val="F97316"/>
              </a:solidFill>
              <a:ln w="25400">
                <a:solidFill>
                  <a:schemeClr val="lt1"/>
                </a:solidFill>
              </a:ln>
              <a:effectLst/>
              <a:sp3d contourW="25400">
                <a:contourClr>
                  <a:schemeClr val="lt1"/>
                </a:contourClr>
              </a:sp3d>
            </c:spPr>
            <c:extLst>
              <c:ext xmlns:c16="http://schemas.microsoft.com/office/drawing/2014/chart" uri="{C3380CC4-5D6E-409C-BE32-E72D297353CC}">
                <c16:uniqueId val="{00000005-17FB-4370-9070-0DAB8279DF05}"/>
              </c:ext>
            </c:extLst>
          </c:dPt>
          <c:dPt>
            <c:idx val="3"/>
            <c:bubble3D val="0"/>
            <c:spPr>
              <a:solidFill>
                <a:srgbClr val="8B5CF6"/>
              </a:solidFill>
              <a:ln w="25400">
                <a:solidFill>
                  <a:schemeClr val="lt1"/>
                </a:solidFill>
              </a:ln>
              <a:effectLst/>
              <a:sp3d contourW="25400">
                <a:contourClr>
                  <a:schemeClr val="lt1"/>
                </a:contourClr>
              </a:sp3d>
            </c:spPr>
            <c:extLst>
              <c:ext xmlns:c16="http://schemas.microsoft.com/office/drawing/2014/chart" uri="{C3380CC4-5D6E-409C-BE32-E72D297353CC}">
                <c16:uniqueId val="{00000007-17FB-4370-9070-0DAB8279DF05}"/>
              </c:ext>
            </c:extLst>
          </c:dPt>
          <c:dLbls>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Sheet9!$G$66:$G$69</c:f>
              <c:strCache>
                <c:ptCount val="4"/>
                <c:pt idx="0">
                  <c:v>Convenience</c:v>
                </c:pt>
                <c:pt idx="1">
                  <c:v>Variety of Food</c:v>
                </c:pt>
                <c:pt idx="2">
                  <c:v>Discounts &amp; Offers</c:v>
                </c:pt>
                <c:pt idx="3">
                  <c:v>Time Saving</c:v>
                </c:pt>
              </c:strCache>
            </c:strRef>
          </c:cat>
          <c:val>
            <c:numRef>
              <c:f>Sheet9!$H$66:$H$69</c:f>
              <c:numCache>
                <c:formatCode>0.00%</c:formatCode>
                <c:ptCount val="4"/>
                <c:pt idx="0">
                  <c:v>0.161</c:v>
                </c:pt>
                <c:pt idx="1">
                  <c:v>0.20300000000000001</c:v>
                </c:pt>
                <c:pt idx="2">
                  <c:v>0.46600000000000003</c:v>
                </c:pt>
                <c:pt idx="3">
                  <c:v>0.16900000000000001</c:v>
                </c:pt>
              </c:numCache>
            </c:numRef>
          </c:val>
          <c:extLst>
            <c:ext xmlns:c16="http://schemas.microsoft.com/office/drawing/2014/chart" uri="{C3380CC4-5D6E-409C-BE32-E72D297353CC}">
              <c16:uniqueId val="{00000008-17FB-4370-9070-0DAB8279DF05}"/>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sz="1800" b="1"/>
              <a:t>Frequency of Add-on Purchases in Online Food Ordering</a:t>
            </a:r>
            <a:endParaRPr lang="en-US" sz="1800" b="1"/>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3.2268984935746155E-2"/>
          <c:y val="0.32291666666666669"/>
          <c:w val="0.74114780360435351"/>
          <c:h val="0.6430555555555556"/>
        </c:manualLayout>
      </c:layout>
      <c:pie3DChart>
        <c:varyColors val="1"/>
        <c:ser>
          <c:idx val="0"/>
          <c:order val="0"/>
          <c:tx>
            <c:strRef>
              <c:f>Sheet9!$G$149</c:f>
              <c:strCache>
                <c:ptCount val="1"/>
                <c:pt idx="0">
                  <c:v>Percentage (%)</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EC4C-43B9-82DA-B9A232DA404F}"/>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EC4C-43B9-82DA-B9A232DA404F}"/>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EC4C-43B9-82DA-B9A232DA404F}"/>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EC4C-43B9-82DA-B9A232DA404F}"/>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EC4C-43B9-82DA-B9A232DA404F}"/>
              </c:ext>
            </c:extLst>
          </c:dPt>
          <c:dLbls>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Sheet9!$F$150:$F$154</c:f>
              <c:strCache>
                <c:ptCount val="5"/>
                <c:pt idx="0">
                  <c:v>Always</c:v>
                </c:pt>
                <c:pt idx="1">
                  <c:v>Often</c:v>
                </c:pt>
                <c:pt idx="2">
                  <c:v>Sometimes</c:v>
                </c:pt>
                <c:pt idx="3">
                  <c:v>Rarely</c:v>
                </c:pt>
                <c:pt idx="4">
                  <c:v>Never</c:v>
                </c:pt>
              </c:strCache>
            </c:strRef>
          </c:cat>
          <c:val>
            <c:numRef>
              <c:f>Sheet9!$G$150:$G$154</c:f>
              <c:numCache>
                <c:formatCode>0.00%</c:formatCode>
                <c:ptCount val="5"/>
                <c:pt idx="0">
                  <c:v>0.21199999999999999</c:v>
                </c:pt>
                <c:pt idx="1">
                  <c:v>0.186</c:v>
                </c:pt>
                <c:pt idx="2">
                  <c:v>0.16700000000000001</c:v>
                </c:pt>
                <c:pt idx="3">
                  <c:v>0.33900000000000002</c:v>
                </c:pt>
                <c:pt idx="4">
                  <c:v>0.10199999999999999</c:v>
                </c:pt>
              </c:numCache>
            </c:numRef>
          </c:val>
          <c:extLst>
            <c:ext xmlns:c16="http://schemas.microsoft.com/office/drawing/2014/chart" uri="{C3380CC4-5D6E-409C-BE32-E72D297353CC}">
              <c16:uniqueId val="{0000000A-EC4C-43B9-82DA-B9A232DA404F}"/>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sz="1800" b="1" dirty="0"/>
              <a:t>Key Factors Influencing Add-on Purchase Decisions</a:t>
            </a:r>
            <a:endParaRPr lang="en-US" sz="1800"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Sheet9!$G$176</c:f>
              <c:strCache>
                <c:ptCount val="1"/>
                <c:pt idx="0">
                  <c:v>Percentage (%)</c:v>
                </c:pt>
              </c:strCache>
            </c:strRef>
          </c:tx>
          <c:dPt>
            <c:idx val="0"/>
            <c:bubble3D val="0"/>
            <c:spPr>
              <a:solidFill>
                <a:schemeClr val="tx2"/>
              </a:solidFill>
              <a:ln w="25400">
                <a:solidFill>
                  <a:schemeClr val="lt1"/>
                </a:solidFill>
              </a:ln>
              <a:effectLst/>
              <a:sp3d contourW="25400">
                <a:contourClr>
                  <a:schemeClr val="lt1"/>
                </a:contourClr>
              </a:sp3d>
            </c:spPr>
            <c:extLst>
              <c:ext xmlns:c16="http://schemas.microsoft.com/office/drawing/2014/chart" uri="{C3380CC4-5D6E-409C-BE32-E72D297353CC}">
                <c16:uniqueId val="{00000001-B472-4577-93C9-884BA370DEE4}"/>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B472-4577-93C9-884BA370DEE4}"/>
              </c:ext>
            </c:extLst>
          </c:dPt>
          <c:dPt>
            <c:idx val="2"/>
            <c:bubble3D val="0"/>
            <c:spPr>
              <a:solidFill>
                <a:srgbClr val="00B050"/>
              </a:solidFill>
              <a:ln w="25400">
                <a:solidFill>
                  <a:schemeClr val="lt1"/>
                </a:solidFill>
              </a:ln>
              <a:effectLst/>
              <a:sp3d contourW="25400">
                <a:contourClr>
                  <a:schemeClr val="lt1"/>
                </a:contourClr>
              </a:sp3d>
            </c:spPr>
            <c:extLst>
              <c:ext xmlns:c16="http://schemas.microsoft.com/office/drawing/2014/chart" uri="{C3380CC4-5D6E-409C-BE32-E72D297353CC}">
                <c16:uniqueId val="{00000005-B472-4577-93C9-884BA370DEE4}"/>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B472-4577-93C9-884BA370DEE4}"/>
              </c:ext>
            </c:extLst>
          </c:dPt>
          <c:dLbls>
            <c:dLbl>
              <c:idx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1-B472-4577-93C9-884BA370DEE4}"/>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extLst>
          </c:dLbls>
          <c:cat>
            <c:strRef>
              <c:f>Sheet9!$F$177:$F$180</c:f>
              <c:strCache>
                <c:ptCount val="4"/>
                <c:pt idx="0">
                  <c:v>Discount offers</c:v>
                </c:pt>
                <c:pt idx="1">
                  <c:v>App recommendations</c:v>
                </c:pt>
                <c:pt idx="2">
                  <c:v>Combo deals</c:v>
                </c:pt>
                <c:pt idx="3">
                  <c:v>Personal preference</c:v>
                </c:pt>
              </c:strCache>
            </c:strRef>
          </c:cat>
          <c:val>
            <c:numRef>
              <c:f>Sheet9!$G$177:$G$180</c:f>
              <c:numCache>
                <c:formatCode>0.00%</c:formatCode>
                <c:ptCount val="4"/>
                <c:pt idx="0">
                  <c:v>0.246</c:v>
                </c:pt>
                <c:pt idx="1">
                  <c:v>0.16900000000000001</c:v>
                </c:pt>
                <c:pt idx="2">
                  <c:v>0.35599999999999998</c:v>
                </c:pt>
                <c:pt idx="3">
                  <c:v>0.254</c:v>
                </c:pt>
              </c:numCache>
            </c:numRef>
          </c:val>
          <c:extLst>
            <c:ext xmlns:c16="http://schemas.microsoft.com/office/drawing/2014/chart" uri="{C3380CC4-5D6E-409C-BE32-E72D297353CC}">
              <c16:uniqueId val="{00000008-B472-4577-93C9-884BA370DEE4}"/>
            </c:ext>
          </c:extLst>
        </c:ser>
        <c:dLbls>
          <c:dLblPos val="inEnd"/>
          <c:showLegendKey val="0"/>
          <c:showVal val="1"/>
          <c:showCatName val="0"/>
          <c:showSerName val="0"/>
          <c:showPercent val="0"/>
          <c:showBubbleSize val="0"/>
          <c:showLeaderLines val="0"/>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sz="1600" b="1" dirty="0"/>
              <a:t>Personalization Features on Add-on Buying Behaviour</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IN"/>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Sheet9!$U$101</c:f>
              <c:strCache>
                <c:ptCount val="1"/>
                <c:pt idx="0">
                  <c:v>Percentage (%)</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0220-4F11-927A-C2CEAD1FC16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0220-4F11-927A-C2CEAD1FC16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0220-4F11-927A-C2CEAD1FC16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0220-4F11-927A-C2CEAD1FC163}"/>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0220-4F11-927A-C2CEAD1FC163}"/>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Sheet9!$T$102:$T$106</c:f>
              <c:strCache>
                <c:ptCount val="5"/>
                <c:pt idx="0">
                  <c:v>Strongly Disagree</c:v>
                </c:pt>
                <c:pt idx="1">
                  <c:v>Disagree</c:v>
                </c:pt>
                <c:pt idx="2">
                  <c:v>Neutral</c:v>
                </c:pt>
                <c:pt idx="3">
                  <c:v>Agree</c:v>
                </c:pt>
                <c:pt idx="4">
                  <c:v>Strongly Agree</c:v>
                </c:pt>
              </c:strCache>
            </c:strRef>
          </c:cat>
          <c:val>
            <c:numRef>
              <c:f>Sheet9!$U$102:$U$106</c:f>
              <c:numCache>
                <c:formatCode>0.00%</c:formatCode>
                <c:ptCount val="5"/>
                <c:pt idx="0">
                  <c:v>9.2999999999999999E-2</c:v>
                </c:pt>
                <c:pt idx="1">
                  <c:v>6.8000000000000005E-2</c:v>
                </c:pt>
                <c:pt idx="2">
                  <c:v>0.127</c:v>
                </c:pt>
                <c:pt idx="3">
                  <c:v>0.26300000000000001</c:v>
                </c:pt>
                <c:pt idx="4">
                  <c:v>0.44900000000000001</c:v>
                </c:pt>
              </c:numCache>
            </c:numRef>
          </c:val>
          <c:extLst>
            <c:ext xmlns:c16="http://schemas.microsoft.com/office/drawing/2014/chart" uri="{C3380CC4-5D6E-409C-BE32-E72D297353CC}">
              <c16:uniqueId val="{0000000A-0220-4F11-927A-C2CEAD1FC163}"/>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DF4997-8D2B-49AD-BB6B-C7DE2279CA58}" type="datetimeFigureOut">
              <a:rPr lang="en-IN" smtClean="0"/>
              <a:t>03-05-2026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39652F-C212-4953-AF99-513EFDA694D4}" type="slidenum">
              <a:rPr lang="en-IN" smtClean="0"/>
              <a:t>‹#›</a:t>
            </a:fld>
            <a:endParaRPr lang="en-IN"/>
          </a:p>
        </p:txBody>
      </p:sp>
    </p:spTree>
    <p:extLst>
      <p:ext uri="{BB962C8B-B14F-4D97-AF65-F5344CB8AC3E}">
        <p14:creationId xmlns:p14="http://schemas.microsoft.com/office/powerpoint/2010/main" val="3617177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39652F-C212-4953-AF99-513EFDA694D4}" type="slidenum">
              <a:rPr lang="en-IN" smtClean="0"/>
              <a:t>4</a:t>
            </a:fld>
            <a:endParaRPr lang="en-IN"/>
          </a:p>
        </p:txBody>
      </p:sp>
    </p:spTree>
    <p:extLst>
      <p:ext uri="{BB962C8B-B14F-4D97-AF65-F5344CB8AC3E}">
        <p14:creationId xmlns:p14="http://schemas.microsoft.com/office/powerpoint/2010/main" val="86211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BEA5C-85F2-A6B1-9BE0-838729DF53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CB625-FD64-5621-CFBE-EC7CAA2A3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988444-BC04-D57F-2B2D-63368CB4ABF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C69653F-3DB5-FDC4-D4B0-F73A6DE8CF5E}"/>
              </a:ext>
            </a:extLst>
          </p:cNvPr>
          <p:cNvSpPr>
            <a:spLocks noGrp="1"/>
          </p:cNvSpPr>
          <p:nvPr>
            <p:ph type="sldNum" sz="quarter" idx="5"/>
          </p:nvPr>
        </p:nvSpPr>
        <p:spPr/>
        <p:txBody>
          <a:bodyPr/>
          <a:lstStyle/>
          <a:p>
            <a:fld id="{BA39652F-C212-4953-AF99-513EFDA694D4}" type="slidenum">
              <a:rPr lang="en-IN" smtClean="0"/>
              <a:t>5</a:t>
            </a:fld>
            <a:endParaRPr lang="en-IN"/>
          </a:p>
        </p:txBody>
      </p:sp>
    </p:spTree>
    <p:extLst>
      <p:ext uri="{BB962C8B-B14F-4D97-AF65-F5344CB8AC3E}">
        <p14:creationId xmlns:p14="http://schemas.microsoft.com/office/powerpoint/2010/main" val="3335343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39652F-C212-4953-AF99-513EFDA694D4}" type="slidenum">
              <a:rPr lang="en-IN" smtClean="0"/>
              <a:t>6</a:t>
            </a:fld>
            <a:endParaRPr lang="en-IN"/>
          </a:p>
        </p:txBody>
      </p:sp>
    </p:spTree>
    <p:extLst>
      <p:ext uri="{BB962C8B-B14F-4D97-AF65-F5344CB8AC3E}">
        <p14:creationId xmlns:p14="http://schemas.microsoft.com/office/powerpoint/2010/main" val="3927407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01EE5-3849-37D8-BAAD-C2FF4630E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61B72-4AB0-78EB-0377-973FD30682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17CBB-617C-9297-AF25-08F36A4F760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E94E1E-CCC6-C676-EA70-E098EE96A230}"/>
              </a:ext>
            </a:extLst>
          </p:cNvPr>
          <p:cNvSpPr>
            <a:spLocks noGrp="1"/>
          </p:cNvSpPr>
          <p:nvPr>
            <p:ph type="sldNum" sz="quarter" idx="5"/>
          </p:nvPr>
        </p:nvSpPr>
        <p:spPr/>
        <p:txBody>
          <a:bodyPr/>
          <a:lstStyle/>
          <a:p>
            <a:fld id="{BA39652F-C212-4953-AF99-513EFDA694D4}" type="slidenum">
              <a:rPr lang="en-IN" smtClean="0"/>
              <a:t>12</a:t>
            </a:fld>
            <a:endParaRPr lang="en-IN"/>
          </a:p>
        </p:txBody>
      </p:sp>
    </p:spTree>
    <p:extLst>
      <p:ext uri="{BB962C8B-B14F-4D97-AF65-F5344CB8AC3E}">
        <p14:creationId xmlns:p14="http://schemas.microsoft.com/office/powerpoint/2010/main" val="1531075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6D280-3576-E31A-EFF9-B66148CA8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9F89E-A000-C6A1-EC74-D87781DC3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155954-71AF-552B-5C17-8A9969AC7A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1B370F3-CEF8-A5C9-7A98-339995B7F01B}"/>
              </a:ext>
            </a:extLst>
          </p:cNvPr>
          <p:cNvSpPr>
            <a:spLocks noGrp="1"/>
          </p:cNvSpPr>
          <p:nvPr>
            <p:ph type="sldNum" sz="quarter" idx="5"/>
          </p:nvPr>
        </p:nvSpPr>
        <p:spPr/>
        <p:txBody>
          <a:bodyPr/>
          <a:lstStyle/>
          <a:p>
            <a:fld id="{BA39652F-C212-4953-AF99-513EFDA694D4}" type="slidenum">
              <a:rPr lang="en-IN" smtClean="0"/>
              <a:t>13</a:t>
            </a:fld>
            <a:endParaRPr lang="en-IN"/>
          </a:p>
        </p:txBody>
      </p:sp>
    </p:spTree>
    <p:extLst>
      <p:ext uri="{BB962C8B-B14F-4D97-AF65-F5344CB8AC3E}">
        <p14:creationId xmlns:p14="http://schemas.microsoft.com/office/powerpoint/2010/main" val="2509020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97BD-15F0-AA0E-FAA6-6C301D847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F55BD-7D47-DE6E-8DDC-5998614AB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52FB97-DF19-8F4A-822A-5F51F7BB5A4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6DA6181-C13D-6FBE-6FB2-D8868077903D}"/>
              </a:ext>
            </a:extLst>
          </p:cNvPr>
          <p:cNvSpPr>
            <a:spLocks noGrp="1"/>
          </p:cNvSpPr>
          <p:nvPr>
            <p:ph type="sldNum" sz="quarter" idx="5"/>
          </p:nvPr>
        </p:nvSpPr>
        <p:spPr/>
        <p:txBody>
          <a:bodyPr/>
          <a:lstStyle/>
          <a:p>
            <a:fld id="{BA39652F-C212-4953-AF99-513EFDA694D4}" type="slidenum">
              <a:rPr lang="en-IN" smtClean="0"/>
              <a:t>14</a:t>
            </a:fld>
            <a:endParaRPr lang="en-IN"/>
          </a:p>
        </p:txBody>
      </p:sp>
    </p:spTree>
    <p:extLst>
      <p:ext uri="{BB962C8B-B14F-4D97-AF65-F5344CB8AC3E}">
        <p14:creationId xmlns:p14="http://schemas.microsoft.com/office/powerpoint/2010/main" val="1603113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480FE-F02F-66EB-8910-5D6C0E166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14094-F9DC-8FD3-ABBE-9B6E8D470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BBF95-1808-398C-DEA5-645ADCDA98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C6D9E8A-F217-E759-89AA-B422DE502491}"/>
              </a:ext>
            </a:extLst>
          </p:cNvPr>
          <p:cNvSpPr>
            <a:spLocks noGrp="1"/>
          </p:cNvSpPr>
          <p:nvPr>
            <p:ph type="sldNum" sz="quarter" idx="5"/>
          </p:nvPr>
        </p:nvSpPr>
        <p:spPr/>
        <p:txBody>
          <a:bodyPr/>
          <a:lstStyle/>
          <a:p>
            <a:fld id="{BA39652F-C212-4953-AF99-513EFDA694D4}" type="slidenum">
              <a:rPr lang="en-IN" smtClean="0"/>
              <a:t>15</a:t>
            </a:fld>
            <a:endParaRPr lang="en-IN"/>
          </a:p>
        </p:txBody>
      </p:sp>
    </p:spTree>
    <p:extLst>
      <p:ext uri="{BB962C8B-B14F-4D97-AF65-F5344CB8AC3E}">
        <p14:creationId xmlns:p14="http://schemas.microsoft.com/office/powerpoint/2010/main" val="3191307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0F027-EC17-3C83-A4A8-A49D6C314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26BAD-DA99-B71C-FC1F-7E06DAF0D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D5D17-B627-9995-817D-600ACB1910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CE28ED5-0A0C-DB0F-4B09-734AD0E74A1A}"/>
              </a:ext>
            </a:extLst>
          </p:cNvPr>
          <p:cNvSpPr>
            <a:spLocks noGrp="1"/>
          </p:cNvSpPr>
          <p:nvPr>
            <p:ph type="sldNum" sz="quarter" idx="5"/>
          </p:nvPr>
        </p:nvSpPr>
        <p:spPr/>
        <p:txBody>
          <a:bodyPr/>
          <a:lstStyle/>
          <a:p>
            <a:fld id="{BA39652F-C212-4953-AF99-513EFDA694D4}" type="slidenum">
              <a:rPr lang="en-IN" smtClean="0"/>
              <a:t>16</a:t>
            </a:fld>
            <a:endParaRPr lang="en-IN"/>
          </a:p>
        </p:txBody>
      </p:sp>
    </p:spTree>
    <p:extLst>
      <p:ext uri="{BB962C8B-B14F-4D97-AF65-F5344CB8AC3E}">
        <p14:creationId xmlns:p14="http://schemas.microsoft.com/office/powerpoint/2010/main" val="3432363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39652F-C212-4953-AF99-513EFDA694D4}" type="slidenum">
              <a:rPr lang="en-IN" smtClean="0"/>
              <a:t>17</a:t>
            </a:fld>
            <a:endParaRPr lang="en-IN"/>
          </a:p>
        </p:txBody>
      </p:sp>
    </p:spTree>
    <p:extLst>
      <p:ext uri="{BB962C8B-B14F-4D97-AF65-F5344CB8AC3E}">
        <p14:creationId xmlns:p14="http://schemas.microsoft.com/office/powerpoint/2010/main" val="1937454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796F0-4989-3D33-E5F4-5C4F72BB4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375E9-3F05-5DA1-1BA2-1089EB39FF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7BCB2-57B3-AC2B-4F30-1045DBF4262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2C3D541-9F1C-C9B3-F669-25343B7E54F9}"/>
              </a:ext>
            </a:extLst>
          </p:cNvPr>
          <p:cNvSpPr>
            <a:spLocks noGrp="1"/>
          </p:cNvSpPr>
          <p:nvPr>
            <p:ph type="sldNum" sz="quarter" idx="5"/>
          </p:nvPr>
        </p:nvSpPr>
        <p:spPr/>
        <p:txBody>
          <a:bodyPr/>
          <a:lstStyle/>
          <a:p>
            <a:fld id="{BA39652F-C212-4953-AF99-513EFDA694D4}" type="slidenum">
              <a:rPr lang="en-IN" smtClean="0"/>
              <a:t>18</a:t>
            </a:fld>
            <a:endParaRPr lang="en-IN"/>
          </a:p>
        </p:txBody>
      </p:sp>
    </p:spTree>
    <p:extLst>
      <p:ext uri="{BB962C8B-B14F-4D97-AF65-F5344CB8AC3E}">
        <p14:creationId xmlns:p14="http://schemas.microsoft.com/office/powerpoint/2010/main" val="1871725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CD694-179E-6BB3-9CB7-BCD9C12DF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A4F9C-2918-5EF7-1EAC-3736048E7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597CC-6A90-9A18-A177-7C203E06F9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B84CC02-459B-11F0-DC26-FFF81A73044E}"/>
              </a:ext>
            </a:extLst>
          </p:cNvPr>
          <p:cNvSpPr>
            <a:spLocks noGrp="1"/>
          </p:cNvSpPr>
          <p:nvPr>
            <p:ph type="sldNum" sz="quarter" idx="5"/>
          </p:nvPr>
        </p:nvSpPr>
        <p:spPr/>
        <p:txBody>
          <a:bodyPr/>
          <a:lstStyle/>
          <a:p>
            <a:fld id="{BA39652F-C212-4953-AF99-513EFDA694D4}" type="slidenum">
              <a:rPr lang="en-IN" smtClean="0"/>
              <a:t>19</a:t>
            </a:fld>
            <a:endParaRPr lang="en-IN"/>
          </a:p>
        </p:txBody>
      </p:sp>
    </p:spTree>
    <p:extLst>
      <p:ext uri="{BB962C8B-B14F-4D97-AF65-F5344CB8AC3E}">
        <p14:creationId xmlns:p14="http://schemas.microsoft.com/office/powerpoint/2010/main" val="1892458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39652F-C212-4953-AF99-513EFDA694D4}" type="slidenum">
              <a:rPr lang="en-IN" smtClean="0"/>
              <a:t>24</a:t>
            </a:fld>
            <a:endParaRPr lang="en-IN"/>
          </a:p>
        </p:txBody>
      </p:sp>
    </p:spTree>
    <p:extLst>
      <p:ext uri="{BB962C8B-B14F-4D97-AF65-F5344CB8AC3E}">
        <p14:creationId xmlns:p14="http://schemas.microsoft.com/office/powerpoint/2010/main" val="2246275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26C4-B5B3-8A4F-DCD2-A3D5496E47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F2E46C-4ED8-BC07-7BF7-8BEC134EFE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A4C2EA-65EA-31A9-6166-F03A87544BDB}"/>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5" name="Footer Placeholder 4">
            <a:extLst>
              <a:ext uri="{FF2B5EF4-FFF2-40B4-BE49-F238E27FC236}">
                <a16:creationId xmlns:a16="http://schemas.microsoft.com/office/drawing/2014/main" id="{C8877A65-6610-48DB-221B-E47467F839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2ED43A-27E6-4182-6048-9F1BB1FF02DF}"/>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3598280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2A87C-A8E9-8E37-F1F8-7E504A87E7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512A2A-8EB7-EF86-7788-E390F06798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650BFD-63BC-1F8F-56F1-3E89DE67D861}"/>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5" name="Footer Placeholder 4">
            <a:extLst>
              <a:ext uri="{FF2B5EF4-FFF2-40B4-BE49-F238E27FC236}">
                <a16:creationId xmlns:a16="http://schemas.microsoft.com/office/drawing/2014/main" id="{3D733612-649D-ABE1-EA33-5B5CDAF722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39A692-3FF2-7302-7C65-F83E7F872C93}"/>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4017412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3E7F3-52E4-9221-D133-A453DBEB9A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6FC17EB-98D5-B2D5-779C-20BBB377ED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904F40-56D7-262E-6B69-0580697FE31F}"/>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5" name="Footer Placeholder 4">
            <a:extLst>
              <a:ext uri="{FF2B5EF4-FFF2-40B4-BE49-F238E27FC236}">
                <a16:creationId xmlns:a16="http://schemas.microsoft.com/office/drawing/2014/main" id="{0B3A6F55-567B-921C-015B-1E6FAEDAAE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C50410-0526-6071-B9FD-B38BBBF9217F}"/>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3936022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E1CFF-C3D4-68F9-DF2E-764BEECC24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568AC7-7FCD-A816-4D5B-633D1B1D1B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0CDC793-2A4D-F19B-43FE-1E8B345BA3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8BFB0D7-D51D-4887-32C2-B44C373F9427}"/>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6" name="Footer Placeholder 5">
            <a:extLst>
              <a:ext uri="{FF2B5EF4-FFF2-40B4-BE49-F238E27FC236}">
                <a16:creationId xmlns:a16="http://schemas.microsoft.com/office/drawing/2014/main" id="{1E37A387-2699-6D52-6D67-5C99FE9C1A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B9DC8B-153E-1658-FF3D-36CD0A868ACD}"/>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1468279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32240-BCA0-1764-1383-B173520C0D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3BE5C3-0FC3-8F04-5CD0-09627C0E6B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4D4E4C-4F03-276C-E8A8-10AF256439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08F99A-1F4D-B68E-6273-833F12A5E0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1C878A-EE20-A02F-4D4B-3AB38A9DD6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25055D-52AF-1370-3807-632B258E5B7A}"/>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8" name="Footer Placeholder 7">
            <a:extLst>
              <a:ext uri="{FF2B5EF4-FFF2-40B4-BE49-F238E27FC236}">
                <a16:creationId xmlns:a16="http://schemas.microsoft.com/office/drawing/2014/main" id="{15946945-C505-A00C-A462-0089092C9A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AF0BB9-B0ED-BC9C-76A6-CACF2888116D}"/>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1079735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BA921-3AD3-DF9F-7E55-D1D42F8F33F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504352-C700-D9A3-034A-075D7ACC2540}"/>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4" name="Footer Placeholder 3">
            <a:extLst>
              <a:ext uri="{FF2B5EF4-FFF2-40B4-BE49-F238E27FC236}">
                <a16:creationId xmlns:a16="http://schemas.microsoft.com/office/drawing/2014/main" id="{8F4D55A7-EF20-DDF6-3D97-E5FDAFCD62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39AB69-49D1-06B0-2B7F-63F16324F8B6}"/>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498629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73D90F-8061-8085-BEEC-83FBCB859A76}"/>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3" name="Footer Placeholder 2">
            <a:extLst>
              <a:ext uri="{FF2B5EF4-FFF2-40B4-BE49-F238E27FC236}">
                <a16:creationId xmlns:a16="http://schemas.microsoft.com/office/drawing/2014/main" id="{884199B9-CCE5-B798-1169-0F10543D178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AF7E3FB-FCBF-5D7B-C802-50A79C9E4C3C}"/>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2316694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AA10-9CD8-F558-DCFE-6923A02E52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1522F0B-8244-144D-64EC-78DA174DE1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AB1CBD-1F10-5960-D24A-80AE56F1FA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0EC497-58C5-FD62-D275-2586B2029C64}"/>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6" name="Footer Placeholder 5">
            <a:extLst>
              <a:ext uri="{FF2B5EF4-FFF2-40B4-BE49-F238E27FC236}">
                <a16:creationId xmlns:a16="http://schemas.microsoft.com/office/drawing/2014/main" id="{3BF818C5-725D-00FA-B48A-408E03F4B7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7CFE71-A1FB-28F8-EB0E-B6639A994D84}"/>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1111398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72AE0-4B60-0BDA-BF9E-6F3A93F889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45F4F9-93AE-65BA-6AF8-D211D05018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ACA0D3-A2F4-B809-D6C8-DD8A2F0027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674580-0DED-CF00-36E9-E3C20F97EC20}"/>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6" name="Footer Placeholder 5">
            <a:extLst>
              <a:ext uri="{FF2B5EF4-FFF2-40B4-BE49-F238E27FC236}">
                <a16:creationId xmlns:a16="http://schemas.microsoft.com/office/drawing/2014/main" id="{232957ED-A220-3B07-C6B3-EF971B9839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82EDC1-8A8A-CDE2-C16B-7CA2DB409F90}"/>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197795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B2E0A-17F3-EFD1-C850-4F8BB09D3F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A32231-AF6B-4AAC-F3BA-DDFE9ED576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59A54C-6E21-742E-1B7D-3269EA5F498B}"/>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5" name="Footer Placeholder 4">
            <a:extLst>
              <a:ext uri="{FF2B5EF4-FFF2-40B4-BE49-F238E27FC236}">
                <a16:creationId xmlns:a16="http://schemas.microsoft.com/office/drawing/2014/main" id="{5D0052AC-2652-015F-63E1-76168748C5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892174-F489-87E9-6940-85EDB71CCA55}"/>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118212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B18E8B-4178-01C9-242D-CB37351BDE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644F9F-87F9-0067-B6EC-10014942FC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7D8E07-84CF-EA13-5137-52F3D324810C}"/>
              </a:ext>
            </a:extLst>
          </p:cNvPr>
          <p:cNvSpPr>
            <a:spLocks noGrp="1"/>
          </p:cNvSpPr>
          <p:nvPr>
            <p:ph type="dt" sz="half" idx="10"/>
          </p:nvPr>
        </p:nvSpPr>
        <p:spPr/>
        <p:txBody>
          <a:bodyPr/>
          <a:lstStyle/>
          <a:p>
            <a:fld id="{599F3548-B971-408F-84CB-825E2D6488C8}" type="datetimeFigureOut">
              <a:rPr lang="en-IN" smtClean="0"/>
              <a:t>03-05-2026</a:t>
            </a:fld>
            <a:endParaRPr lang="en-IN"/>
          </a:p>
        </p:txBody>
      </p:sp>
      <p:sp>
        <p:nvSpPr>
          <p:cNvPr id="5" name="Footer Placeholder 4">
            <a:extLst>
              <a:ext uri="{FF2B5EF4-FFF2-40B4-BE49-F238E27FC236}">
                <a16:creationId xmlns:a16="http://schemas.microsoft.com/office/drawing/2014/main" id="{0E0716BF-F34B-E607-169A-BCC0AA6B0C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F69476-EB54-857D-05DE-9E89D35D1191}"/>
              </a:ext>
            </a:extLst>
          </p:cNvPr>
          <p:cNvSpPr>
            <a:spLocks noGrp="1"/>
          </p:cNvSpPr>
          <p:nvPr>
            <p:ph type="sldNum" sz="quarter" idx="12"/>
          </p:nvPr>
        </p:nvSpPr>
        <p:spPr/>
        <p:txBody>
          <a:bodyPr/>
          <a:lstStyle/>
          <a:p>
            <a:fld id="{FD5787D8-E044-4ABE-B7B6-F365912E13C8}" type="slidenum">
              <a:rPr lang="en-IN" smtClean="0"/>
              <a:t>‹#›</a:t>
            </a:fld>
            <a:endParaRPr lang="en-IN"/>
          </a:p>
        </p:txBody>
      </p:sp>
    </p:spTree>
    <p:extLst>
      <p:ext uri="{BB962C8B-B14F-4D97-AF65-F5344CB8AC3E}">
        <p14:creationId xmlns:p14="http://schemas.microsoft.com/office/powerpoint/2010/main" val="196195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E406D-93F6-FD4B-807B-F3E34C9483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94C29E-4B25-0AB4-E777-17F9AA8D88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D05B60-91C1-F62C-0E14-3C47C3EE9B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9F3548-B971-408F-84CB-825E2D6488C8}" type="datetimeFigureOut">
              <a:rPr lang="en-IN" smtClean="0"/>
              <a:t>03-05-2026</a:t>
            </a:fld>
            <a:endParaRPr lang="en-IN"/>
          </a:p>
        </p:txBody>
      </p:sp>
      <p:sp>
        <p:nvSpPr>
          <p:cNvPr id="5" name="Footer Placeholder 4">
            <a:extLst>
              <a:ext uri="{FF2B5EF4-FFF2-40B4-BE49-F238E27FC236}">
                <a16:creationId xmlns:a16="http://schemas.microsoft.com/office/drawing/2014/main" id="{480E664A-CD8E-C813-19A8-5D2754A353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70E7D7-5FC8-4311-EBFD-3B65AD4ED9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5787D8-E044-4ABE-B7B6-F365912E13C8}" type="slidenum">
              <a:rPr lang="en-IN" smtClean="0"/>
              <a:t>‹#›</a:t>
            </a:fld>
            <a:endParaRPr lang="en-IN"/>
          </a:p>
        </p:txBody>
      </p:sp>
    </p:spTree>
    <p:extLst>
      <p:ext uri="{BB962C8B-B14F-4D97-AF65-F5344CB8AC3E}">
        <p14:creationId xmlns:p14="http://schemas.microsoft.com/office/powerpoint/2010/main" val="3211673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27000">
              <a:srgbClr val="E23744">
                <a:lumMod val="100000"/>
              </a:srgbClr>
            </a:gs>
            <a:gs pos="73000">
              <a:srgbClr val="FC8019"/>
            </a:gs>
          </a:gsLst>
          <a:lin ang="2700000" scaled="0"/>
        </a:gradFill>
        <a:effectLst/>
      </p:bgPr>
    </p:bg>
    <p:spTree>
      <p:nvGrpSpPr>
        <p:cNvPr id="1" name="">
          <a:extLst>
            <a:ext uri="{FF2B5EF4-FFF2-40B4-BE49-F238E27FC236}">
              <a16:creationId xmlns:a16="http://schemas.microsoft.com/office/drawing/2014/main" id="{9AC1D589-A32C-F337-1C57-8FEFBA18CC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200EBFE-E6FB-2D88-7990-605989CB5B8C}"/>
              </a:ext>
            </a:extLst>
          </p:cNvPr>
          <p:cNvSpPr txBox="1"/>
          <p:nvPr/>
        </p:nvSpPr>
        <p:spPr>
          <a:xfrm>
            <a:off x="471948" y="462116"/>
            <a:ext cx="11179277" cy="783193"/>
          </a:xfrm>
          <a:prstGeom prst="roundRect">
            <a:avLst/>
          </a:prstGeom>
          <a:noFill/>
          <a:ln>
            <a:solidFill>
              <a:srgbClr val="F8F9FA"/>
            </a:solidFill>
          </a:ln>
        </p:spPr>
        <p:txBody>
          <a:bodyPr wrap="square" rtlCol="0">
            <a:spAutoFit/>
          </a:bodyPr>
          <a:lstStyle/>
          <a:p>
            <a:pPr algn="ctr"/>
            <a:r>
              <a:rPr lang="en-IN" sz="2000" b="1" i="1" dirty="0">
                <a:solidFill>
                  <a:srgbClr val="F8F9FA"/>
                </a:solidFill>
                <a:latin typeface="Arial Black" panose="020B0A04020102020204" pitchFamily="34" charset="0"/>
              </a:rPr>
              <a:t>“An Analytics Study on Customer Personalization &amp; Add-On Buying Behaviour in Food Delivery Apps.”</a:t>
            </a:r>
            <a:endParaRPr lang="en-IN" sz="2000" i="1" dirty="0">
              <a:solidFill>
                <a:srgbClr val="F8F9FA"/>
              </a:solidFill>
              <a:latin typeface="Arial Black" panose="020B0A04020102020204" pitchFamily="34" charset="0"/>
            </a:endParaRPr>
          </a:p>
        </p:txBody>
      </p:sp>
      <p:sp>
        <p:nvSpPr>
          <p:cNvPr id="13" name="Rectangle: Rounded Corners 12">
            <a:extLst>
              <a:ext uri="{FF2B5EF4-FFF2-40B4-BE49-F238E27FC236}">
                <a16:creationId xmlns:a16="http://schemas.microsoft.com/office/drawing/2014/main" id="{636F6B7C-6B1D-89B7-0889-76B6DE97101D}"/>
              </a:ext>
            </a:extLst>
          </p:cNvPr>
          <p:cNvSpPr/>
          <p:nvPr/>
        </p:nvSpPr>
        <p:spPr>
          <a:xfrm>
            <a:off x="471948" y="1476925"/>
            <a:ext cx="11179276" cy="4975123"/>
          </a:xfrm>
          <a:prstGeom prst="roundRect">
            <a:avLst>
              <a:gd name="adj" fmla="val 4809"/>
            </a:avLst>
          </a:prstGeom>
          <a:noFill/>
          <a:ln>
            <a:solidFill>
              <a:srgbClr val="F8F9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8F9FA"/>
              </a:solidFill>
            </a:endParaRPr>
          </a:p>
        </p:txBody>
      </p:sp>
      <p:sp>
        <p:nvSpPr>
          <p:cNvPr id="14" name="TextBox 13">
            <a:extLst>
              <a:ext uri="{FF2B5EF4-FFF2-40B4-BE49-F238E27FC236}">
                <a16:creationId xmlns:a16="http://schemas.microsoft.com/office/drawing/2014/main" id="{211C4AED-E4CB-08C6-853B-901E9DF2AC17}"/>
              </a:ext>
            </a:extLst>
          </p:cNvPr>
          <p:cNvSpPr txBox="1"/>
          <p:nvPr/>
        </p:nvSpPr>
        <p:spPr>
          <a:xfrm>
            <a:off x="801329" y="2013228"/>
            <a:ext cx="10589342" cy="2831544"/>
          </a:xfrm>
          <a:prstGeom prst="rect">
            <a:avLst/>
          </a:prstGeom>
          <a:noFill/>
          <a:ln>
            <a:noFill/>
          </a:ln>
        </p:spPr>
        <p:txBody>
          <a:bodyPr wrap="square" rtlCol="0">
            <a:spAutoFit/>
          </a:bodyPr>
          <a:lstStyle/>
          <a:p>
            <a:pPr algn="ctr"/>
            <a:r>
              <a:rPr lang="en-IN" sz="2000" i="1" dirty="0">
                <a:solidFill>
                  <a:srgbClr val="F8F9FA"/>
                </a:solidFill>
                <a:latin typeface="Sitka Heading" pitchFamily="2" charset="0"/>
              </a:rPr>
              <a:t>Student Name : KALE VAIBHAV DNYANDEV</a:t>
            </a:r>
          </a:p>
          <a:p>
            <a:pPr algn="ctr"/>
            <a:endParaRPr lang="en-IN" sz="2000" i="1" dirty="0">
              <a:solidFill>
                <a:srgbClr val="F8F9FA"/>
              </a:solidFill>
              <a:latin typeface="Sitka Heading" pitchFamily="2" charset="0"/>
            </a:endParaRPr>
          </a:p>
          <a:p>
            <a:pPr algn="ctr"/>
            <a:r>
              <a:rPr lang="en-IN" sz="2000" dirty="0">
                <a:solidFill>
                  <a:srgbClr val="F8F9FA"/>
                </a:solidFill>
                <a:latin typeface="Sitka Heading" pitchFamily="2" charset="0"/>
              </a:rPr>
              <a:t>Course : MBA (Business Analytics Specialization)</a:t>
            </a:r>
          </a:p>
          <a:p>
            <a:pPr algn="ctr"/>
            <a:endParaRPr lang="en-IN" sz="2000" dirty="0">
              <a:solidFill>
                <a:srgbClr val="F8F9FA"/>
              </a:solidFill>
            </a:endParaRPr>
          </a:p>
          <a:p>
            <a:pPr algn="ctr"/>
            <a:r>
              <a:rPr lang="en-IN" sz="2000" dirty="0">
                <a:solidFill>
                  <a:srgbClr val="F8F9FA"/>
                </a:solidFill>
                <a:latin typeface="Sitka Heading" pitchFamily="2" charset="0"/>
              </a:rPr>
              <a:t>Institution : AMRUTVAHINI INSTITUTE OF MANAGEMENT OF BUSINESS ADMINISTRATION , SANAGAMNER</a:t>
            </a:r>
          </a:p>
          <a:p>
            <a:endParaRPr lang="en-IN" sz="2000" dirty="0"/>
          </a:p>
          <a:p>
            <a:pPr algn="ctr"/>
            <a:r>
              <a:rPr lang="en-IN" sz="2000" dirty="0">
                <a:solidFill>
                  <a:srgbClr val="F8F9FA"/>
                </a:solidFill>
                <a:latin typeface="Sitka Heading" pitchFamily="2" charset="0"/>
              </a:rPr>
              <a:t>Project Guide : Prof. P. S. SALBANDE</a:t>
            </a:r>
          </a:p>
          <a:p>
            <a:endParaRPr lang="en-IN" dirty="0"/>
          </a:p>
        </p:txBody>
      </p:sp>
    </p:spTree>
    <p:extLst>
      <p:ext uri="{BB962C8B-B14F-4D97-AF65-F5344CB8AC3E}">
        <p14:creationId xmlns:p14="http://schemas.microsoft.com/office/powerpoint/2010/main" val="154512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A63FB68F-10AB-34EA-76B1-723BE0E18BA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065FAD6-AF40-2830-28EA-7C7AF60C0CAB}"/>
              </a:ext>
            </a:extLst>
          </p:cNvPr>
          <p:cNvSpPr/>
          <p:nvPr/>
        </p:nvSpPr>
        <p:spPr>
          <a:xfrm>
            <a:off x="0" y="1"/>
            <a:ext cx="12192000" cy="835742"/>
          </a:xfrm>
          <a:prstGeom prst="rect">
            <a:avLst/>
          </a:prstGeom>
          <a:gradFill>
            <a:gsLst>
              <a:gs pos="27000">
                <a:srgbClr val="E23744"/>
              </a:gs>
              <a:gs pos="73000">
                <a:srgbClr val="FC8019"/>
              </a:gs>
            </a:gsLst>
            <a:lin ang="8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Summary</a:t>
            </a:r>
            <a:endParaRPr lang="en-IN" sz="4000" i="1" dirty="0">
              <a:ln>
                <a:solidFill>
                  <a:schemeClr val="accent3">
                    <a:lumMod val="20000"/>
                    <a:lumOff val="80000"/>
                  </a:schemeClr>
                </a:solidFill>
              </a:ln>
              <a:latin typeface="Algerian" panose="04020705040A02060702" pitchFamily="82" charset="0"/>
            </a:endParaRPr>
          </a:p>
        </p:txBody>
      </p:sp>
      <p:sp>
        <p:nvSpPr>
          <p:cNvPr id="3" name="TextBox 2">
            <a:extLst>
              <a:ext uri="{FF2B5EF4-FFF2-40B4-BE49-F238E27FC236}">
                <a16:creationId xmlns:a16="http://schemas.microsoft.com/office/drawing/2014/main" id="{4ECAC4FA-9C0D-620C-7544-755B69C089AF}"/>
              </a:ext>
            </a:extLst>
          </p:cNvPr>
          <p:cNvSpPr txBox="1"/>
          <p:nvPr/>
        </p:nvSpPr>
        <p:spPr>
          <a:xfrm>
            <a:off x="339213" y="1034192"/>
            <a:ext cx="11513574" cy="5545136"/>
          </a:xfrm>
          <a:prstGeom prst="roundRect">
            <a:avLst>
              <a:gd name="adj" fmla="val 6382"/>
            </a:avLst>
          </a:prstGeom>
          <a:solidFill>
            <a:srgbClr val="F8F9FA"/>
          </a:solidFill>
          <a:ln w="12700">
            <a:solidFill>
              <a:srgbClr val="006666"/>
            </a:solidFill>
          </a:ln>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This study looks at how personalization affects customer behavior in food delivery apps by using both existing research and data collected from 118 users. Earlier studies show that personalization helps increase engagement and encourages people to buy more. Our survey results also support this, showing that personalized suggestions do influence add-on purchases. However, customers are still very price-conscious and often switch between apps instead of sticking to one. We also found that discounts and combo offers work better than general recommendations. Overall, the study suggests that using more targeted personalization along with better-designed app features can help increase add-on sales and improve overall revenue.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6002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63C72AAF-5FBB-75EC-D618-904E4C2329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3145FF-1DC2-B40B-CEEC-492813F7332E}"/>
              </a:ext>
            </a:extLst>
          </p:cNvPr>
          <p:cNvSpPr/>
          <p:nvPr/>
        </p:nvSpPr>
        <p:spPr>
          <a:xfrm>
            <a:off x="0" y="1"/>
            <a:ext cx="12192000" cy="806244"/>
          </a:xfrm>
          <a:prstGeom prst="rect">
            <a:avLst/>
          </a:prstGeom>
          <a:gradFill>
            <a:gsLst>
              <a:gs pos="27000">
                <a:srgbClr val="E23744"/>
              </a:gs>
              <a:gs pos="73000">
                <a:srgbClr val="FC8019"/>
              </a:gs>
            </a:gsLst>
            <a:lin ang="21594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Introduction</a:t>
            </a:r>
            <a:endParaRPr lang="en-IN" i="1" dirty="0">
              <a:ln>
                <a:solidFill>
                  <a:schemeClr val="accent3">
                    <a:lumMod val="20000"/>
                    <a:lumOff val="80000"/>
                  </a:schemeClr>
                </a:solidFill>
              </a:ln>
              <a:latin typeface="Algerian" panose="04020705040A02060702" pitchFamily="82" charset="0"/>
            </a:endParaRPr>
          </a:p>
        </p:txBody>
      </p:sp>
      <p:sp>
        <p:nvSpPr>
          <p:cNvPr id="4" name="TextBox 3">
            <a:extLst>
              <a:ext uri="{FF2B5EF4-FFF2-40B4-BE49-F238E27FC236}">
                <a16:creationId xmlns:a16="http://schemas.microsoft.com/office/drawing/2014/main" id="{D0CC05DB-1868-2111-BFDA-587A283E9671}"/>
              </a:ext>
            </a:extLst>
          </p:cNvPr>
          <p:cNvSpPr txBox="1"/>
          <p:nvPr/>
        </p:nvSpPr>
        <p:spPr>
          <a:xfrm>
            <a:off x="319549" y="1194053"/>
            <a:ext cx="11552903" cy="4936688"/>
          </a:xfrm>
          <a:prstGeom prst="roundRect">
            <a:avLst>
              <a:gd name="adj" fmla="val 8083"/>
            </a:avLst>
          </a:prstGeom>
          <a:noFill/>
          <a:ln>
            <a:solidFill>
              <a:srgbClr val="006666"/>
            </a:solidFill>
          </a:ln>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food delivery industry has grown rapidly due to digitalization, changing lifestyles, and increased smartphone usage. Platforms like Zomato and Swiggy use data analytics and personalization techniques such as recommendations and targeted offers to improve customer experience. One important outcome of this is add-on buying behavior, where customers purchase extra items like beverages or desserts. This study focuses on understanding how personalization influences these add-on purchases and identifies key factors affecting customer decisions.</a:t>
            </a: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8873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90CFD2B5-1FBB-693C-7EA0-A4BD8A2EE2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AF80A84-FF50-2640-94E1-6A362C6BBF32}"/>
              </a:ext>
            </a:extLst>
          </p:cNvPr>
          <p:cNvSpPr/>
          <p:nvPr/>
        </p:nvSpPr>
        <p:spPr>
          <a:xfrm>
            <a:off x="0" y="1"/>
            <a:ext cx="12192000" cy="806244"/>
          </a:xfrm>
          <a:prstGeom prst="rect">
            <a:avLst/>
          </a:prstGeom>
          <a:gradFill>
            <a:gsLst>
              <a:gs pos="27000">
                <a:srgbClr val="E23744"/>
              </a:gs>
              <a:gs pos="73000">
                <a:srgbClr val="FC8019"/>
              </a:gs>
            </a:gsLst>
            <a:lin ang="21594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atin typeface="Algerian" panose="04020705040A02060702" pitchFamily="82" charset="0"/>
              </a:rPr>
              <a:t>LITERATURE REVIEW</a:t>
            </a:r>
            <a:endParaRPr lang="en-IN" i="1" dirty="0">
              <a:ln>
                <a:solidFill>
                  <a:schemeClr val="accent3">
                    <a:lumMod val="20000"/>
                    <a:lumOff val="80000"/>
                  </a:schemeClr>
                </a:solidFill>
              </a:ln>
              <a:latin typeface="Algerian" panose="04020705040A02060702" pitchFamily="82" charset="0"/>
            </a:endParaRPr>
          </a:p>
        </p:txBody>
      </p:sp>
      <p:graphicFrame>
        <p:nvGraphicFramePr>
          <p:cNvPr id="5" name="Table 4">
            <a:extLst>
              <a:ext uri="{FF2B5EF4-FFF2-40B4-BE49-F238E27FC236}">
                <a16:creationId xmlns:a16="http://schemas.microsoft.com/office/drawing/2014/main" id="{23772617-CB35-292F-C947-EE307F7007FA}"/>
              </a:ext>
            </a:extLst>
          </p:cNvPr>
          <p:cNvGraphicFramePr>
            <a:graphicFrameLocks noGrp="1"/>
          </p:cNvGraphicFramePr>
          <p:nvPr>
            <p:extLst>
              <p:ext uri="{D42A27DB-BD31-4B8C-83A1-F6EECF244321}">
                <p14:modId xmlns:p14="http://schemas.microsoft.com/office/powerpoint/2010/main" val="143762528"/>
              </p:ext>
            </p:extLst>
          </p:nvPr>
        </p:nvGraphicFramePr>
        <p:xfrm>
          <a:off x="103238" y="914399"/>
          <a:ext cx="11985524" cy="5771533"/>
        </p:xfrm>
        <a:graphic>
          <a:graphicData uri="http://schemas.openxmlformats.org/drawingml/2006/table">
            <a:tbl>
              <a:tblPr>
                <a:tableStyleId>{8A107856-5554-42FB-B03E-39F5DBC370BA}</a:tableStyleId>
              </a:tblPr>
              <a:tblGrid>
                <a:gridCol w="2644877">
                  <a:extLst>
                    <a:ext uri="{9D8B030D-6E8A-4147-A177-3AD203B41FA5}">
                      <a16:colId xmlns:a16="http://schemas.microsoft.com/office/drawing/2014/main" val="1597948625"/>
                    </a:ext>
                  </a:extLst>
                </a:gridCol>
                <a:gridCol w="2074607">
                  <a:extLst>
                    <a:ext uri="{9D8B030D-6E8A-4147-A177-3AD203B41FA5}">
                      <a16:colId xmlns:a16="http://schemas.microsoft.com/office/drawing/2014/main" val="3971532979"/>
                    </a:ext>
                  </a:extLst>
                </a:gridCol>
                <a:gridCol w="875071">
                  <a:extLst>
                    <a:ext uri="{9D8B030D-6E8A-4147-A177-3AD203B41FA5}">
                      <a16:colId xmlns:a16="http://schemas.microsoft.com/office/drawing/2014/main" val="3319287750"/>
                    </a:ext>
                  </a:extLst>
                </a:gridCol>
                <a:gridCol w="6390969">
                  <a:extLst>
                    <a:ext uri="{9D8B030D-6E8A-4147-A177-3AD203B41FA5}">
                      <a16:colId xmlns:a16="http://schemas.microsoft.com/office/drawing/2014/main" val="3810579516"/>
                    </a:ext>
                  </a:extLst>
                </a:gridCol>
              </a:tblGrid>
              <a:tr h="684562">
                <a:tc>
                  <a:txBody>
                    <a:bodyPr/>
                    <a:lstStyle/>
                    <a:p>
                      <a:pPr algn="ctr">
                        <a:buNone/>
                      </a:pPr>
                      <a:r>
                        <a:rPr lang="en-IN" sz="2000" b="1" dirty="0">
                          <a:latin typeface="Times New Roman" panose="02020603050405020304" pitchFamily="18" charset="0"/>
                          <a:cs typeface="Times New Roman" panose="02020603050405020304" pitchFamily="18" charset="0"/>
                        </a:rPr>
                        <a:t>Year &amp; Article</a:t>
                      </a:r>
                    </a:p>
                  </a:txBody>
                  <a:tcPr marL="29401" marR="29401" marT="14700" marB="14700" anchor="ctr">
                    <a:solidFill>
                      <a:schemeClr val="bg1"/>
                    </a:solidFill>
                  </a:tcPr>
                </a:tc>
                <a:tc>
                  <a:txBody>
                    <a:bodyPr/>
                    <a:lstStyle/>
                    <a:p>
                      <a:pPr algn="ctr">
                        <a:buNone/>
                      </a:pPr>
                      <a:r>
                        <a:rPr lang="en-IN" sz="2000" b="1" dirty="0">
                          <a:latin typeface="Times New Roman" panose="02020603050405020304" pitchFamily="18" charset="0"/>
                          <a:cs typeface="Times New Roman" panose="02020603050405020304" pitchFamily="18" charset="0"/>
                        </a:rPr>
                        <a:t>Author &amp; Publication</a:t>
                      </a:r>
                    </a:p>
                  </a:txBody>
                  <a:tcPr marL="29401" marR="29401" marT="14700" marB="14700" anchor="ctr">
                    <a:solidFill>
                      <a:schemeClr val="bg1"/>
                    </a:solidFill>
                  </a:tcPr>
                </a:tc>
                <a:tc>
                  <a:txBody>
                    <a:bodyPr/>
                    <a:lstStyle/>
                    <a:p>
                      <a:pPr algn="ctr">
                        <a:buNone/>
                      </a:pPr>
                      <a:r>
                        <a:rPr lang="en-IN" sz="2000" b="1">
                          <a:latin typeface="Times New Roman" panose="02020603050405020304" pitchFamily="18" charset="0"/>
                          <a:cs typeface="Times New Roman" panose="02020603050405020304" pitchFamily="18" charset="0"/>
                        </a:rPr>
                        <a:t>Pages</a:t>
                      </a:r>
                    </a:p>
                  </a:txBody>
                  <a:tcPr marL="29401" marR="29401" marT="14700" marB="14700" anchor="ctr">
                    <a:solidFill>
                      <a:schemeClr val="bg1"/>
                    </a:solidFill>
                  </a:tcPr>
                </a:tc>
                <a:tc>
                  <a:txBody>
                    <a:bodyPr/>
                    <a:lstStyle/>
                    <a:p>
                      <a:pPr algn="ctr">
                        <a:buNone/>
                      </a:pPr>
                      <a:r>
                        <a:rPr lang="en-IN" sz="2000" b="1" dirty="0">
                          <a:latin typeface="Times New Roman" panose="02020603050405020304" pitchFamily="18" charset="0"/>
                          <a:cs typeface="Times New Roman" panose="02020603050405020304" pitchFamily="18" charset="0"/>
                        </a:rPr>
                        <a:t>Study / Explanation</a:t>
                      </a:r>
                    </a:p>
                  </a:txBody>
                  <a:tcPr marL="29401" marR="29401" marT="14700" marB="14700" anchor="ctr">
                    <a:solidFill>
                      <a:schemeClr val="bg1"/>
                    </a:solidFill>
                  </a:tcPr>
                </a:tc>
                <a:extLst>
                  <a:ext uri="{0D108BD9-81ED-4DB2-BD59-A6C34878D82A}">
                    <a16:rowId xmlns:a16="http://schemas.microsoft.com/office/drawing/2014/main" val="494318502"/>
                  </a:ext>
                </a:extLst>
              </a:tr>
              <a:tr h="1011095">
                <a:tc>
                  <a:txBody>
                    <a:bodyPr/>
                    <a:lstStyle/>
                    <a:p>
                      <a:pPr>
                        <a:buNone/>
                      </a:pPr>
                      <a:r>
                        <a:rPr lang="en-US" sz="2000" dirty="0">
                          <a:latin typeface="Times New Roman" panose="02020603050405020304" pitchFamily="18" charset="0"/>
                          <a:cs typeface="Times New Roman" panose="02020603050405020304" pitchFamily="18" charset="0"/>
                        </a:rPr>
                        <a:t>2026 – Consumer Purchasing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in Food Delivery Apps</a:t>
                      </a:r>
                    </a:p>
                  </a:txBody>
                  <a:tcPr marL="29401" marR="29401" marT="14700" marB="14700" anchor="ctr">
                    <a:solidFill>
                      <a:schemeClr val="bg1"/>
                    </a:solidFill>
                  </a:tcPr>
                </a:tc>
                <a:tc>
                  <a:txBody>
                    <a:bodyPr/>
                    <a:lstStyle/>
                    <a:p>
                      <a:pPr>
                        <a:buNone/>
                      </a:pPr>
                      <a:r>
                        <a:rPr lang="da-DK" sz="2000" dirty="0">
                          <a:latin typeface="Times New Roman" panose="02020603050405020304" pitchFamily="18" charset="0"/>
                          <a:cs typeface="Times New Roman" panose="02020603050405020304" pitchFamily="18" charset="0"/>
                        </a:rPr>
                        <a:t>Prasetyo et al. – Journal Study</a:t>
                      </a:r>
                    </a:p>
                  </a:txBody>
                  <a:tcPr marL="29401" marR="29401" marT="14700" marB="14700" anchor="ctr">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1–10</a:t>
                      </a:r>
                    </a:p>
                  </a:txBody>
                  <a:tcPr marL="29401" marR="29401" marT="14700" marB="14700" anchor="ctr">
                    <a:solidFill>
                      <a:schemeClr val="bg1"/>
                    </a:solidFill>
                  </a:tcPr>
                </a:tc>
                <a:tc>
                  <a:txBody>
                    <a:bodyPr/>
                    <a:lstStyle/>
                    <a:p>
                      <a:pPr algn="just">
                        <a:buNone/>
                      </a:pPr>
                      <a:r>
                        <a:rPr lang="en-US" sz="2000" dirty="0">
                          <a:latin typeface="Times New Roman" panose="02020603050405020304" pitchFamily="18" charset="0"/>
                          <a:cs typeface="Times New Roman" panose="02020603050405020304" pitchFamily="18" charset="0"/>
                        </a:rPr>
                        <a:t>Ease of use, price value, and promotions influence buying; personalization improves engagement and add-on purchases</a:t>
                      </a:r>
                    </a:p>
                  </a:txBody>
                  <a:tcPr marL="29401" marR="29401" marT="14700" marB="14700" anchor="ctr">
                    <a:solidFill>
                      <a:schemeClr val="bg1"/>
                    </a:solidFill>
                  </a:tcPr>
                </a:tc>
                <a:extLst>
                  <a:ext uri="{0D108BD9-81ED-4DB2-BD59-A6C34878D82A}">
                    <a16:rowId xmlns:a16="http://schemas.microsoft.com/office/drawing/2014/main" val="1053456592"/>
                  </a:ext>
                </a:extLst>
              </a:tr>
              <a:tr h="684562">
                <a:tc>
                  <a:txBody>
                    <a:bodyPr/>
                    <a:lstStyle/>
                    <a:p>
                      <a:pPr>
                        <a:buNone/>
                      </a:pPr>
                      <a:r>
                        <a:rPr lang="en-US" sz="2000">
                          <a:latin typeface="Times New Roman" panose="02020603050405020304" pitchFamily="18" charset="0"/>
                          <a:cs typeface="Times New Roman" panose="02020603050405020304" pitchFamily="18" charset="0"/>
                        </a:rPr>
                        <a:t>2025 – AI in Food Delivery Applications</a:t>
                      </a:r>
                    </a:p>
                  </a:txBody>
                  <a:tcPr marL="29401" marR="29401" marT="14700" marB="14700" anchor="ctr">
                    <a:solidFill>
                      <a:schemeClr val="bg1"/>
                    </a:solidFill>
                  </a:tcPr>
                </a:tc>
                <a:tc>
                  <a:txBody>
                    <a:bodyPr/>
                    <a:lstStyle/>
                    <a:p>
                      <a:pPr>
                        <a:buNone/>
                      </a:pPr>
                      <a:r>
                        <a:rPr lang="en-IN" sz="2000" dirty="0" err="1">
                          <a:latin typeface="Times New Roman" panose="02020603050405020304" pitchFamily="18" charset="0"/>
                          <a:cs typeface="Times New Roman" panose="02020603050405020304" pitchFamily="18" charset="0"/>
                        </a:rPr>
                        <a:t>Shorbaji</a:t>
                      </a:r>
                      <a:r>
                        <a:rPr lang="en-IN" sz="2000" dirty="0">
                          <a:latin typeface="Times New Roman" panose="02020603050405020304" pitchFamily="18" charset="0"/>
                          <a:cs typeface="Times New Roman" panose="02020603050405020304" pitchFamily="18" charset="0"/>
                        </a:rPr>
                        <a:t> – Systematic Review</a:t>
                      </a:r>
                    </a:p>
                  </a:txBody>
                  <a:tcPr marL="29401" marR="29401" marT="14700" marB="14700" anchor="ctr">
                    <a:solidFill>
                      <a:schemeClr val="bg1"/>
                    </a:solidFill>
                  </a:tcPr>
                </a:tc>
                <a:tc>
                  <a:txBody>
                    <a:bodyPr/>
                    <a:lstStyle/>
                    <a:p>
                      <a:pPr>
                        <a:buNone/>
                      </a:pPr>
                      <a:r>
                        <a:rPr lang="en-IN" sz="2000" dirty="0">
                          <a:latin typeface="Times New Roman" panose="02020603050405020304" pitchFamily="18" charset="0"/>
                          <a:cs typeface="Times New Roman" panose="02020603050405020304" pitchFamily="18" charset="0"/>
                        </a:rPr>
                        <a:t>15–25</a:t>
                      </a:r>
                    </a:p>
                  </a:txBody>
                  <a:tcPr marL="29401" marR="29401" marT="14700" marB="14700" anchor="ctr">
                    <a:solidFill>
                      <a:schemeClr val="bg1"/>
                    </a:solidFill>
                  </a:tcPr>
                </a:tc>
                <a:tc>
                  <a:txBody>
                    <a:bodyPr/>
                    <a:lstStyle/>
                    <a:p>
                      <a:pPr algn="just">
                        <a:buNone/>
                      </a:pPr>
                      <a:r>
                        <a:rPr lang="en-US" sz="2000" dirty="0">
                          <a:latin typeface="Times New Roman" panose="02020603050405020304" pitchFamily="18" charset="0"/>
                          <a:cs typeface="Times New Roman" panose="02020603050405020304" pitchFamily="18" charset="0"/>
                        </a:rPr>
                        <a:t>AI-based personalization improves user experience, but excessive personalization reduces trust</a:t>
                      </a:r>
                    </a:p>
                  </a:txBody>
                  <a:tcPr marL="29401" marR="29401" marT="14700" marB="14700" anchor="ctr">
                    <a:solidFill>
                      <a:schemeClr val="bg1"/>
                    </a:solidFill>
                  </a:tcPr>
                </a:tc>
                <a:extLst>
                  <a:ext uri="{0D108BD9-81ED-4DB2-BD59-A6C34878D82A}">
                    <a16:rowId xmlns:a16="http://schemas.microsoft.com/office/drawing/2014/main" val="193069711"/>
                  </a:ext>
                </a:extLst>
              </a:tr>
              <a:tr h="1011095">
                <a:tc>
                  <a:txBody>
                    <a:bodyPr/>
                    <a:lstStyle/>
                    <a:p>
                      <a:pPr>
                        <a:buNone/>
                      </a:pPr>
                      <a:r>
                        <a:rPr lang="en-IN" sz="2000">
                          <a:latin typeface="Times New Roman" panose="02020603050405020304" pitchFamily="18" charset="0"/>
                          <a:cs typeface="Times New Roman" panose="02020603050405020304" pitchFamily="18" charset="0"/>
                        </a:rPr>
                        <a:t>2025 – Personalized Recommendations &amp; Purchase Intention</a:t>
                      </a:r>
                    </a:p>
                  </a:txBody>
                  <a:tcPr marL="29401" marR="29401" marT="14700" marB="14700" anchor="ctr">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Zhao – Research Study</a:t>
                      </a:r>
                    </a:p>
                  </a:txBody>
                  <a:tcPr marL="29401" marR="29401" marT="14700" marB="14700" anchor="ctr">
                    <a:solidFill>
                      <a:schemeClr val="bg1"/>
                    </a:solidFill>
                  </a:tcPr>
                </a:tc>
                <a:tc>
                  <a:txBody>
                    <a:bodyPr/>
                    <a:lstStyle/>
                    <a:p>
                      <a:pPr>
                        <a:buNone/>
                      </a:pPr>
                      <a:r>
                        <a:rPr lang="en-IN" sz="2000" dirty="0">
                          <a:latin typeface="Times New Roman" panose="02020603050405020304" pitchFamily="18" charset="0"/>
                          <a:cs typeface="Times New Roman" panose="02020603050405020304" pitchFamily="18" charset="0"/>
                        </a:rPr>
                        <a:t>30–40</a:t>
                      </a:r>
                    </a:p>
                  </a:txBody>
                  <a:tcPr marL="29401" marR="29401" marT="14700" marB="14700" anchor="ctr">
                    <a:solidFill>
                      <a:schemeClr val="bg1"/>
                    </a:solidFill>
                  </a:tcPr>
                </a:tc>
                <a:tc>
                  <a:txBody>
                    <a:bodyPr/>
                    <a:lstStyle/>
                    <a:p>
                      <a:pPr algn="just">
                        <a:buNone/>
                      </a:pPr>
                      <a:r>
                        <a:rPr lang="en-US" sz="2000" dirty="0">
                          <a:latin typeface="Times New Roman" panose="02020603050405020304" pitchFamily="18" charset="0"/>
                          <a:cs typeface="Times New Roman" panose="02020603050405020304" pitchFamily="18" charset="0"/>
                        </a:rPr>
                        <a:t>Personalization increases engagement by satisfying psychological needs</a:t>
                      </a:r>
                    </a:p>
                  </a:txBody>
                  <a:tcPr marL="29401" marR="29401" marT="14700" marB="14700" anchor="ctr">
                    <a:solidFill>
                      <a:schemeClr val="bg1"/>
                    </a:solidFill>
                  </a:tcPr>
                </a:tc>
                <a:extLst>
                  <a:ext uri="{0D108BD9-81ED-4DB2-BD59-A6C34878D82A}">
                    <a16:rowId xmlns:a16="http://schemas.microsoft.com/office/drawing/2014/main" val="1379990770"/>
                  </a:ext>
                </a:extLst>
              </a:tr>
              <a:tr h="684562">
                <a:tc>
                  <a:txBody>
                    <a:bodyPr/>
                    <a:lstStyle/>
                    <a:p>
                      <a:pPr>
                        <a:buNone/>
                      </a:pPr>
                      <a:r>
                        <a:rPr lang="en-IN" sz="2000" dirty="0">
                          <a:latin typeface="Times New Roman" panose="02020603050405020304" pitchFamily="18" charset="0"/>
                          <a:cs typeface="Times New Roman" panose="02020603050405020304" pitchFamily="18" charset="0"/>
                        </a:rPr>
                        <a:t>2025 – AI-driven Personalization Impact</a:t>
                      </a:r>
                    </a:p>
                  </a:txBody>
                  <a:tcPr marL="29401" marR="29401" marT="14700" marB="14700" anchor="ctr">
                    <a:solidFill>
                      <a:schemeClr val="bg1"/>
                    </a:solidFill>
                  </a:tcPr>
                </a:tc>
                <a:tc>
                  <a:txBody>
                    <a:bodyPr/>
                    <a:lstStyle/>
                    <a:p>
                      <a:pPr>
                        <a:buNone/>
                      </a:pPr>
                      <a:r>
                        <a:rPr lang="en-IN" sz="2000" dirty="0">
                          <a:latin typeface="Times New Roman" panose="02020603050405020304" pitchFamily="18" charset="0"/>
                          <a:cs typeface="Times New Roman" panose="02020603050405020304" pitchFamily="18" charset="0"/>
                        </a:rPr>
                        <a:t>Ahn &amp; Kwon – Research Journal</a:t>
                      </a:r>
                    </a:p>
                  </a:txBody>
                  <a:tcPr marL="29401" marR="29401" marT="14700" marB="14700" anchor="ctr">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50–60</a:t>
                      </a:r>
                    </a:p>
                  </a:txBody>
                  <a:tcPr marL="29401" marR="29401" marT="14700" marB="14700" anchor="ctr">
                    <a:solidFill>
                      <a:schemeClr val="bg1"/>
                    </a:solidFill>
                  </a:tcPr>
                </a:tc>
                <a:tc>
                  <a:txBody>
                    <a:bodyPr/>
                    <a:lstStyle/>
                    <a:p>
                      <a:pPr algn="just">
                        <a:buNone/>
                      </a:pPr>
                      <a:r>
                        <a:rPr lang="en-US" sz="2000" dirty="0">
                          <a:latin typeface="Times New Roman" panose="02020603050405020304" pitchFamily="18" charset="0"/>
                          <a:cs typeface="Times New Roman" panose="02020603050405020304" pitchFamily="18" charset="0"/>
                        </a:rPr>
                        <a:t>Personalization improves purchase intention and perceived value; trust is important</a:t>
                      </a:r>
                    </a:p>
                  </a:txBody>
                  <a:tcPr marL="29401" marR="29401" marT="14700" marB="14700" anchor="ctr">
                    <a:solidFill>
                      <a:schemeClr val="bg1"/>
                    </a:solidFill>
                  </a:tcPr>
                </a:tc>
                <a:extLst>
                  <a:ext uri="{0D108BD9-81ED-4DB2-BD59-A6C34878D82A}">
                    <a16:rowId xmlns:a16="http://schemas.microsoft.com/office/drawing/2014/main" val="1485544102"/>
                  </a:ext>
                </a:extLst>
              </a:tr>
              <a:tr h="1011095">
                <a:tc>
                  <a:txBody>
                    <a:bodyPr/>
                    <a:lstStyle/>
                    <a:p>
                      <a:pPr>
                        <a:buNone/>
                      </a:pPr>
                      <a:r>
                        <a:rPr lang="en-US" sz="2000" dirty="0">
                          <a:latin typeface="Times New Roman" panose="02020603050405020304" pitchFamily="18" charset="0"/>
                          <a:cs typeface="Times New Roman" panose="02020603050405020304" pitchFamily="18" charset="0"/>
                        </a:rPr>
                        <a:t>2025 – Consumer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in Food Delivery Apps</a:t>
                      </a:r>
                    </a:p>
                  </a:txBody>
                  <a:tcPr marL="29401" marR="29401" marT="14700" marB="14700" anchor="ctr">
                    <a:solidFill>
                      <a:schemeClr val="bg1"/>
                    </a:solidFill>
                  </a:tcPr>
                </a:tc>
                <a:tc>
                  <a:txBody>
                    <a:bodyPr/>
                    <a:lstStyle/>
                    <a:p>
                      <a:pPr>
                        <a:buNone/>
                      </a:pPr>
                      <a:r>
                        <a:rPr lang="en-IN" sz="2000" dirty="0">
                          <a:latin typeface="Times New Roman" panose="02020603050405020304" pitchFamily="18" charset="0"/>
                          <a:cs typeface="Times New Roman" panose="02020603050405020304" pitchFamily="18" charset="0"/>
                        </a:rPr>
                        <a:t>Various Authors – IJHSSM Journal</a:t>
                      </a:r>
                    </a:p>
                  </a:txBody>
                  <a:tcPr marL="29401" marR="29401" marT="14700" marB="14700" anchor="ctr">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10–18</a:t>
                      </a:r>
                    </a:p>
                  </a:txBody>
                  <a:tcPr marL="29401" marR="29401" marT="14700" marB="14700" anchor="ctr">
                    <a:solidFill>
                      <a:schemeClr val="bg1"/>
                    </a:solidFill>
                  </a:tcPr>
                </a:tc>
                <a:tc>
                  <a:txBody>
                    <a:bodyPr/>
                    <a:lstStyle/>
                    <a:p>
                      <a:pPr algn="just">
                        <a:buNone/>
                      </a:pPr>
                      <a:r>
                        <a:rPr lang="en-US" sz="2000" dirty="0">
                          <a:latin typeface="Times New Roman" panose="02020603050405020304" pitchFamily="18" charset="0"/>
                          <a:cs typeface="Times New Roman" panose="02020603050405020304" pitchFamily="18" charset="0"/>
                        </a:rPr>
                        <a:t>UI design, trust, and personalization improve engagement and decision-making</a:t>
                      </a:r>
                    </a:p>
                  </a:txBody>
                  <a:tcPr marL="29401" marR="29401" marT="14700" marB="14700" anchor="ctr">
                    <a:solidFill>
                      <a:schemeClr val="bg1"/>
                    </a:solidFill>
                  </a:tcPr>
                </a:tc>
                <a:extLst>
                  <a:ext uri="{0D108BD9-81ED-4DB2-BD59-A6C34878D82A}">
                    <a16:rowId xmlns:a16="http://schemas.microsoft.com/office/drawing/2014/main" val="1035300608"/>
                  </a:ext>
                </a:extLst>
              </a:tr>
              <a:tr h="684562">
                <a:tc>
                  <a:txBody>
                    <a:bodyPr/>
                    <a:lstStyle/>
                    <a:p>
                      <a:pPr>
                        <a:buNone/>
                      </a:pPr>
                      <a:r>
                        <a:rPr lang="en-IN" sz="2000">
                          <a:latin typeface="Times New Roman" panose="02020603050405020304" pitchFamily="18" charset="0"/>
                          <a:cs typeface="Times New Roman" panose="02020603050405020304" pitchFamily="18" charset="0"/>
                        </a:rPr>
                        <a:t>2024 – Personalized Advertisements Impact</a:t>
                      </a:r>
                    </a:p>
                  </a:txBody>
                  <a:tcPr marL="29401" marR="29401" marT="14700" marB="14700" anchor="ctr">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Research Study – Delhi NCR</a:t>
                      </a:r>
                    </a:p>
                  </a:txBody>
                  <a:tcPr marL="29401" marR="29401" marT="14700" marB="14700" anchor="ctr">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22–30</a:t>
                      </a:r>
                    </a:p>
                  </a:txBody>
                  <a:tcPr marL="29401" marR="29401" marT="14700" marB="14700" anchor="ctr">
                    <a:solidFill>
                      <a:schemeClr val="bg1"/>
                    </a:solidFill>
                  </a:tcPr>
                </a:tc>
                <a:tc>
                  <a:txBody>
                    <a:bodyPr/>
                    <a:lstStyle/>
                    <a:p>
                      <a:pPr algn="just">
                        <a:buNone/>
                      </a:pPr>
                      <a:r>
                        <a:rPr lang="en-US" sz="2000" dirty="0">
                          <a:latin typeface="Times New Roman" panose="02020603050405020304" pitchFamily="18" charset="0"/>
                          <a:cs typeface="Times New Roman" panose="02020603050405020304" pitchFamily="18" charset="0"/>
                        </a:rPr>
                        <a:t>Targeted ads increase click-through rate and order value</a:t>
                      </a:r>
                    </a:p>
                  </a:txBody>
                  <a:tcPr marL="29401" marR="29401" marT="14700" marB="14700" anchor="ctr">
                    <a:solidFill>
                      <a:schemeClr val="bg1"/>
                    </a:solidFill>
                  </a:tcPr>
                </a:tc>
                <a:extLst>
                  <a:ext uri="{0D108BD9-81ED-4DB2-BD59-A6C34878D82A}">
                    <a16:rowId xmlns:a16="http://schemas.microsoft.com/office/drawing/2014/main" val="4066136"/>
                  </a:ext>
                </a:extLst>
              </a:tr>
            </a:tbl>
          </a:graphicData>
        </a:graphic>
      </p:graphicFrame>
    </p:spTree>
    <p:extLst>
      <p:ext uri="{BB962C8B-B14F-4D97-AF65-F5344CB8AC3E}">
        <p14:creationId xmlns:p14="http://schemas.microsoft.com/office/powerpoint/2010/main" val="1246857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A3308F3A-E4BD-E404-009A-2F4013B4FB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19C9CED-500E-5891-CBB9-5069DF0C1AD3}"/>
              </a:ext>
            </a:extLst>
          </p:cNvPr>
          <p:cNvSpPr/>
          <p:nvPr/>
        </p:nvSpPr>
        <p:spPr>
          <a:xfrm>
            <a:off x="0" y="1"/>
            <a:ext cx="12192000" cy="737418"/>
          </a:xfrm>
          <a:prstGeom prst="rect">
            <a:avLst/>
          </a:prstGeom>
          <a:gradFill>
            <a:gsLst>
              <a:gs pos="27000">
                <a:srgbClr val="E23744"/>
              </a:gs>
              <a:gs pos="73000">
                <a:srgbClr val="FC8019"/>
              </a:gs>
            </a:gsLst>
            <a:lin ang="21594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atin typeface="Algerian" panose="04020705040A02060702" pitchFamily="82" charset="0"/>
              </a:rPr>
              <a:t>LITERATURE REVIEW</a:t>
            </a:r>
            <a:endParaRPr lang="en-IN" sz="3200" i="1" dirty="0">
              <a:ln>
                <a:solidFill>
                  <a:schemeClr val="accent3">
                    <a:lumMod val="20000"/>
                    <a:lumOff val="80000"/>
                  </a:schemeClr>
                </a:solidFill>
              </a:ln>
              <a:latin typeface="Algerian" panose="04020705040A02060702" pitchFamily="82" charset="0"/>
            </a:endParaRPr>
          </a:p>
          <a:p>
            <a:pPr algn="ctr"/>
            <a:endParaRPr lang="en-IN" i="1" dirty="0">
              <a:ln>
                <a:solidFill>
                  <a:schemeClr val="accent3">
                    <a:lumMod val="20000"/>
                    <a:lumOff val="80000"/>
                  </a:schemeClr>
                </a:solidFill>
              </a:ln>
              <a:latin typeface="Algerian" panose="04020705040A02060702" pitchFamily="82" charset="0"/>
            </a:endParaRPr>
          </a:p>
        </p:txBody>
      </p:sp>
      <p:graphicFrame>
        <p:nvGraphicFramePr>
          <p:cNvPr id="5" name="Table 4">
            <a:extLst>
              <a:ext uri="{FF2B5EF4-FFF2-40B4-BE49-F238E27FC236}">
                <a16:creationId xmlns:a16="http://schemas.microsoft.com/office/drawing/2014/main" id="{9063BB4F-B91E-B5C8-A77C-61C7A46392A1}"/>
              </a:ext>
            </a:extLst>
          </p:cNvPr>
          <p:cNvGraphicFramePr>
            <a:graphicFrameLocks noGrp="1"/>
          </p:cNvGraphicFramePr>
          <p:nvPr>
            <p:extLst>
              <p:ext uri="{D42A27DB-BD31-4B8C-83A1-F6EECF244321}">
                <p14:modId xmlns:p14="http://schemas.microsoft.com/office/powerpoint/2010/main" val="721859458"/>
              </p:ext>
            </p:extLst>
          </p:nvPr>
        </p:nvGraphicFramePr>
        <p:xfrm>
          <a:off x="110613" y="843197"/>
          <a:ext cx="11970775" cy="5832904"/>
        </p:xfrm>
        <a:graphic>
          <a:graphicData uri="http://schemas.openxmlformats.org/drawingml/2006/table">
            <a:tbl>
              <a:tblPr>
                <a:tableStyleId>{8A107856-5554-42FB-B03E-39F5DBC370BA}</a:tableStyleId>
              </a:tblPr>
              <a:tblGrid>
                <a:gridCol w="2630128">
                  <a:extLst>
                    <a:ext uri="{9D8B030D-6E8A-4147-A177-3AD203B41FA5}">
                      <a16:colId xmlns:a16="http://schemas.microsoft.com/office/drawing/2014/main" val="1597948625"/>
                    </a:ext>
                  </a:extLst>
                </a:gridCol>
                <a:gridCol w="2074607">
                  <a:extLst>
                    <a:ext uri="{9D8B030D-6E8A-4147-A177-3AD203B41FA5}">
                      <a16:colId xmlns:a16="http://schemas.microsoft.com/office/drawing/2014/main" val="3971532979"/>
                    </a:ext>
                  </a:extLst>
                </a:gridCol>
                <a:gridCol w="875071">
                  <a:extLst>
                    <a:ext uri="{9D8B030D-6E8A-4147-A177-3AD203B41FA5}">
                      <a16:colId xmlns:a16="http://schemas.microsoft.com/office/drawing/2014/main" val="3319287750"/>
                    </a:ext>
                  </a:extLst>
                </a:gridCol>
                <a:gridCol w="6390969">
                  <a:extLst>
                    <a:ext uri="{9D8B030D-6E8A-4147-A177-3AD203B41FA5}">
                      <a16:colId xmlns:a16="http://schemas.microsoft.com/office/drawing/2014/main" val="3810579516"/>
                    </a:ext>
                  </a:extLst>
                </a:gridCol>
              </a:tblGrid>
              <a:tr h="668350">
                <a:tc>
                  <a:txBody>
                    <a:bodyPr/>
                    <a:lstStyle/>
                    <a:p>
                      <a:pPr algn="ctr">
                        <a:buNone/>
                      </a:pPr>
                      <a:r>
                        <a:rPr lang="en-IN" sz="2000" b="1" dirty="0">
                          <a:latin typeface="Times New Roman" panose="02020603050405020304" pitchFamily="18" charset="0"/>
                          <a:cs typeface="Times New Roman" panose="02020603050405020304" pitchFamily="18" charset="0"/>
                        </a:rPr>
                        <a:t>Year &amp; Article</a:t>
                      </a:r>
                    </a:p>
                  </a:txBody>
                  <a:tcPr marL="29401" marR="29401" marT="14700" marB="14700" anchor="ctr">
                    <a:solidFill>
                      <a:schemeClr val="bg1"/>
                    </a:solidFill>
                  </a:tcPr>
                </a:tc>
                <a:tc>
                  <a:txBody>
                    <a:bodyPr/>
                    <a:lstStyle/>
                    <a:p>
                      <a:pPr algn="ctr">
                        <a:buNone/>
                      </a:pPr>
                      <a:r>
                        <a:rPr lang="en-IN" sz="2000" b="1" dirty="0">
                          <a:latin typeface="Times New Roman" panose="02020603050405020304" pitchFamily="18" charset="0"/>
                          <a:cs typeface="Times New Roman" panose="02020603050405020304" pitchFamily="18" charset="0"/>
                        </a:rPr>
                        <a:t>Author &amp; Publication</a:t>
                      </a:r>
                    </a:p>
                  </a:txBody>
                  <a:tcPr marL="29401" marR="29401" marT="14700" marB="14700" anchor="ctr">
                    <a:solidFill>
                      <a:schemeClr val="bg1"/>
                    </a:solidFill>
                  </a:tcPr>
                </a:tc>
                <a:tc>
                  <a:txBody>
                    <a:bodyPr/>
                    <a:lstStyle/>
                    <a:p>
                      <a:pPr algn="ctr">
                        <a:buNone/>
                      </a:pPr>
                      <a:r>
                        <a:rPr lang="en-IN" sz="2000" b="1">
                          <a:latin typeface="Times New Roman" panose="02020603050405020304" pitchFamily="18" charset="0"/>
                          <a:cs typeface="Times New Roman" panose="02020603050405020304" pitchFamily="18" charset="0"/>
                        </a:rPr>
                        <a:t>Pages</a:t>
                      </a:r>
                    </a:p>
                  </a:txBody>
                  <a:tcPr marL="29401" marR="29401" marT="14700" marB="14700" anchor="ctr">
                    <a:solidFill>
                      <a:schemeClr val="bg1"/>
                    </a:solidFill>
                  </a:tcPr>
                </a:tc>
                <a:tc>
                  <a:txBody>
                    <a:bodyPr/>
                    <a:lstStyle/>
                    <a:p>
                      <a:pPr algn="ctr">
                        <a:buNone/>
                      </a:pPr>
                      <a:r>
                        <a:rPr lang="en-IN" sz="2000" b="1" dirty="0">
                          <a:latin typeface="Times New Roman" panose="02020603050405020304" pitchFamily="18" charset="0"/>
                          <a:cs typeface="Times New Roman" panose="02020603050405020304" pitchFamily="18" charset="0"/>
                        </a:rPr>
                        <a:t>Study / Explanation</a:t>
                      </a:r>
                    </a:p>
                  </a:txBody>
                  <a:tcPr marL="29401" marR="29401" marT="14700" marB="14700" anchor="ctr">
                    <a:solidFill>
                      <a:schemeClr val="bg1"/>
                    </a:solidFill>
                  </a:tcPr>
                </a:tc>
                <a:extLst>
                  <a:ext uri="{0D108BD9-81ED-4DB2-BD59-A6C34878D82A}">
                    <a16:rowId xmlns:a16="http://schemas.microsoft.com/office/drawing/2014/main" val="494318502"/>
                  </a:ext>
                </a:extLst>
              </a:tr>
              <a:tr h="956399">
                <a:tc>
                  <a:txBody>
                    <a:bodyPr/>
                    <a:lstStyle/>
                    <a:p>
                      <a:pPr>
                        <a:buNone/>
                      </a:pPr>
                      <a:r>
                        <a:rPr lang="en-IN">
                          <a:latin typeface="Times New Roman" panose="02020603050405020304" pitchFamily="18" charset="0"/>
                          <a:cs typeface="Times New Roman" panose="02020603050405020304" pitchFamily="18" charset="0"/>
                        </a:rPr>
                        <a:t>2024 – ML-based Recommendation Systems</a:t>
                      </a:r>
                    </a:p>
                  </a:txBody>
                  <a:tcPr anchor="ctr">
                    <a:solidFill>
                      <a:schemeClr val="bg1"/>
                    </a:solidFill>
                  </a:tcPr>
                </a:tc>
                <a:tc>
                  <a:txBody>
                    <a:bodyPr/>
                    <a:lstStyle/>
                    <a:p>
                      <a:pPr>
                        <a:buNone/>
                      </a:pPr>
                      <a:r>
                        <a:rPr lang="en-IN">
                          <a:latin typeface="Times New Roman" panose="02020603050405020304" pitchFamily="18" charset="0"/>
                          <a:cs typeface="Times New Roman" panose="02020603050405020304" pitchFamily="18" charset="0"/>
                        </a:rPr>
                        <a:t>Li et al. – ScienceDirect</a:t>
                      </a:r>
                    </a:p>
                  </a:txBody>
                  <a:tcPr anchor="ctr">
                    <a:solidFill>
                      <a:schemeClr val="bg1"/>
                    </a:solidFill>
                  </a:tcPr>
                </a:tc>
                <a:tc>
                  <a:txBody>
                    <a:bodyPr/>
                    <a:lstStyle/>
                    <a:p>
                      <a:pPr>
                        <a:buNone/>
                      </a:pPr>
                      <a:r>
                        <a:rPr lang="en-IN">
                          <a:latin typeface="Times New Roman" panose="02020603050405020304" pitchFamily="18" charset="0"/>
                          <a:cs typeface="Times New Roman" panose="02020603050405020304" pitchFamily="18" charset="0"/>
                        </a:rPr>
                        <a:t>40–55</a:t>
                      </a:r>
                    </a:p>
                  </a:txBody>
                  <a:tcPr anchor="ctr">
                    <a:solidFill>
                      <a:schemeClr val="bg1"/>
                    </a:solidFill>
                  </a:tcPr>
                </a:tc>
                <a:tc>
                  <a:txBody>
                    <a:bodyPr/>
                    <a:lstStyle/>
                    <a:p>
                      <a:pPr algn="just">
                        <a:buNone/>
                      </a:pPr>
                      <a:r>
                        <a:rPr lang="en-US" dirty="0">
                          <a:latin typeface="Times New Roman" panose="02020603050405020304" pitchFamily="18" charset="0"/>
                          <a:cs typeface="Times New Roman" panose="02020603050405020304" pitchFamily="18" charset="0"/>
                        </a:rPr>
                        <a:t>Recommendations and bundling increase basket size and cross-selling. However, excessive personalization may reduce user autonomy.</a:t>
                      </a:r>
                    </a:p>
                  </a:txBody>
                  <a:tcPr anchor="ctr">
                    <a:solidFill>
                      <a:schemeClr val="bg1"/>
                    </a:solidFill>
                  </a:tcPr>
                </a:tc>
                <a:extLst>
                  <a:ext uri="{0D108BD9-81ED-4DB2-BD59-A6C34878D82A}">
                    <a16:rowId xmlns:a16="http://schemas.microsoft.com/office/drawing/2014/main" val="1053456592"/>
                  </a:ext>
                </a:extLst>
              </a:tr>
              <a:tr h="956399">
                <a:tc>
                  <a:txBody>
                    <a:bodyPr/>
                    <a:lstStyle/>
                    <a:p>
                      <a:pPr>
                        <a:buNone/>
                      </a:pPr>
                      <a:r>
                        <a:rPr lang="en-IN">
                          <a:latin typeface="Times New Roman" panose="02020603050405020304" pitchFamily="18" charset="0"/>
                          <a:cs typeface="Times New Roman" panose="02020603050405020304" pitchFamily="18" charset="0"/>
                        </a:rPr>
                        <a:t>2023 – Omnichannel Personalization</a:t>
                      </a:r>
                    </a:p>
                  </a:txBody>
                  <a:tcPr anchor="ctr">
                    <a:solidFill>
                      <a:schemeClr val="bg1"/>
                    </a:solidFill>
                  </a:tcPr>
                </a:tc>
                <a:tc>
                  <a:txBody>
                    <a:bodyPr/>
                    <a:lstStyle/>
                    <a:p>
                      <a:pPr>
                        <a:buNone/>
                      </a:pPr>
                      <a:r>
                        <a:rPr lang="en-IN">
                          <a:latin typeface="Times New Roman" panose="02020603050405020304" pitchFamily="18" charset="0"/>
                          <a:cs typeface="Times New Roman" panose="02020603050405020304" pitchFamily="18" charset="0"/>
                        </a:rPr>
                        <a:t>Verhoef et al. – Journal of Marketing</a:t>
                      </a:r>
                    </a:p>
                  </a:txBody>
                  <a:tcPr anchor="ctr">
                    <a:solidFill>
                      <a:schemeClr val="bg1"/>
                    </a:solidFill>
                  </a:tcPr>
                </a:tc>
                <a:tc>
                  <a:txBody>
                    <a:bodyPr/>
                    <a:lstStyle/>
                    <a:p>
                      <a:pPr>
                        <a:buNone/>
                      </a:pPr>
                      <a:r>
                        <a:rPr lang="en-IN">
                          <a:latin typeface="Times New Roman" panose="02020603050405020304" pitchFamily="18" charset="0"/>
                          <a:cs typeface="Times New Roman" panose="02020603050405020304" pitchFamily="18" charset="0"/>
                        </a:rPr>
                        <a:t>60–75</a:t>
                      </a:r>
                    </a:p>
                  </a:txBody>
                  <a:tcPr anchor="ctr">
                    <a:solidFill>
                      <a:schemeClr val="bg1"/>
                    </a:solidFill>
                  </a:tcPr>
                </a:tc>
                <a:tc>
                  <a:txBody>
                    <a:bodyPr/>
                    <a:lstStyle/>
                    <a:p>
                      <a:pPr algn="just">
                        <a:buNone/>
                      </a:pPr>
                      <a:r>
                        <a:rPr lang="en-US" dirty="0">
                          <a:latin typeface="Times New Roman" panose="02020603050405020304" pitchFamily="18" charset="0"/>
                          <a:cs typeface="Times New Roman" panose="02020603050405020304" pitchFamily="18" charset="0"/>
                        </a:rPr>
                        <a:t>Data-driven personalization increases engagement and purchase likelihood. Integration of customer data improves consistency across platforms.</a:t>
                      </a:r>
                    </a:p>
                  </a:txBody>
                  <a:tcPr anchor="ctr">
                    <a:solidFill>
                      <a:schemeClr val="bg1"/>
                    </a:solidFill>
                  </a:tcPr>
                </a:tc>
                <a:extLst>
                  <a:ext uri="{0D108BD9-81ED-4DB2-BD59-A6C34878D82A}">
                    <a16:rowId xmlns:a16="http://schemas.microsoft.com/office/drawing/2014/main" val="193069711"/>
                  </a:ext>
                </a:extLst>
              </a:tr>
              <a:tr h="956399">
                <a:tc>
                  <a:txBody>
                    <a:bodyPr/>
                    <a:lstStyle/>
                    <a:p>
                      <a:pPr>
                        <a:buNone/>
                      </a:pPr>
                      <a:r>
                        <a:rPr lang="en-US" dirty="0">
                          <a:latin typeface="Times New Roman" panose="02020603050405020304" pitchFamily="18" charset="0"/>
                          <a:cs typeface="Times New Roman" panose="02020603050405020304" pitchFamily="18" charset="0"/>
                        </a:rPr>
                        <a:t>2023 – Recommendation System Based on Orders</a:t>
                      </a:r>
                    </a:p>
                  </a:txBody>
                  <a:tcPr anchor="ctr">
                    <a:solidFill>
                      <a:schemeClr val="bg1"/>
                    </a:solidFill>
                  </a:tcPr>
                </a:tc>
                <a:tc>
                  <a:txBody>
                    <a:bodyPr/>
                    <a:lstStyle/>
                    <a:p>
                      <a:pPr>
                        <a:buNone/>
                      </a:pPr>
                      <a:r>
                        <a:rPr lang="en-US">
                          <a:latin typeface="Times New Roman" panose="02020603050405020304" pitchFamily="18" charset="0"/>
                          <a:cs typeface="Times New Roman" panose="02020603050405020304" pitchFamily="18" charset="0"/>
                        </a:rPr>
                        <a:t>Sánchez et al. – Research Study</a:t>
                      </a:r>
                    </a:p>
                  </a:txBody>
                  <a:tcPr anchor="ctr">
                    <a:solidFill>
                      <a:schemeClr val="bg1"/>
                    </a:solidFill>
                  </a:tcPr>
                </a:tc>
                <a:tc>
                  <a:txBody>
                    <a:bodyPr/>
                    <a:lstStyle/>
                    <a:p>
                      <a:pPr>
                        <a:buNone/>
                      </a:pPr>
                      <a:r>
                        <a:rPr lang="en-IN">
                          <a:latin typeface="Times New Roman" panose="02020603050405020304" pitchFamily="18" charset="0"/>
                          <a:cs typeface="Times New Roman" panose="02020603050405020304" pitchFamily="18" charset="0"/>
                        </a:rPr>
                        <a:t>20–35</a:t>
                      </a:r>
                    </a:p>
                  </a:txBody>
                  <a:tcPr anchor="ctr">
                    <a:solidFill>
                      <a:schemeClr val="bg1"/>
                    </a:solidFill>
                  </a:tcPr>
                </a:tc>
                <a:tc>
                  <a:txBody>
                    <a:bodyPr/>
                    <a:lstStyle/>
                    <a:p>
                      <a:pPr algn="just">
                        <a:buNone/>
                      </a:pPr>
                      <a:r>
                        <a:rPr lang="en-US" dirty="0">
                          <a:latin typeface="Times New Roman" panose="02020603050405020304" pitchFamily="18" charset="0"/>
                          <a:cs typeface="Times New Roman" panose="02020603050405020304" pitchFamily="18" charset="0"/>
                        </a:rPr>
                        <a:t>Order history improves recommendation accuracy and reduces decision effort. Even simple models can deliver effective personalization.</a:t>
                      </a:r>
                    </a:p>
                  </a:txBody>
                  <a:tcPr anchor="ctr">
                    <a:solidFill>
                      <a:schemeClr val="bg1"/>
                    </a:solidFill>
                  </a:tcPr>
                </a:tc>
                <a:extLst>
                  <a:ext uri="{0D108BD9-81ED-4DB2-BD59-A6C34878D82A}">
                    <a16:rowId xmlns:a16="http://schemas.microsoft.com/office/drawing/2014/main" val="1379990770"/>
                  </a:ext>
                </a:extLst>
              </a:tr>
              <a:tr h="669479">
                <a:tc>
                  <a:txBody>
                    <a:bodyPr/>
                    <a:lstStyle/>
                    <a:p>
                      <a:pPr>
                        <a:buNone/>
                      </a:pPr>
                      <a:r>
                        <a:rPr lang="en-IN">
                          <a:latin typeface="Times New Roman" panose="02020603050405020304" pitchFamily="18" charset="0"/>
                          <a:cs typeface="Times New Roman" panose="02020603050405020304" pitchFamily="18" charset="0"/>
                        </a:rPr>
                        <a:t>2022 – Personalization in Digital Commerce</a:t>
                      </a:r>
                    </a:p>
                  </a:txBody>
                  <a:tcPr anchor="ctr">
                    <a:solidFill>
                      <a:schemeClr val="bg1"/>
                    </a:solidFill>
                  </a:tcPr>
                </a:tc>
                <a:tc>
                  <a:txBody>
                    <a:bodyPr/>
                    <a:lstStyle/>
                    <a:p>
                      <a:pPr>
                        <a:buNone/>
                      </a:pPr>
                      <a:r>
                        <a:rPr lang="en-IN" dirty="0">
                          <a:latin typeface="Times New Roman" panose="02020603050405020304" pitchFamily="18" charset="0"/>
                          <a:cs typeface="Times New Roman" panose="02020603050405020304" pitchFamily="18" charset="0"/>
                        </a:rPr>
                        <a:t>Hallikainen et al. – Journal Study</a:t>
                      </a:r>
                    </a:p>
                  </a:txBody>
                  <a:tcPr anchor="ctr">
                    <a:solidFill>
                      <a:schemeClr val="bg1"/>
                    </a:solidFill>
                  </a:tcPr>
                </a:tc>
                <a:tc>
                  <a:txBody>
                    <a:bodyPr/>
                    <a:lstStyle/>
                    <a:p>
                      <a:pPr>
                        <a:buNone/>
                      </a:pPr>
                      <a:r>
                        <a:rPr lang="en-IN">
                          <a:latin typeface="Times New Roman" panose="02020603050405020304" pitchFamily="18" charset="0"/>
                          <a:cs typeface="Times New Roman" panose="02020603050405020304" pitchFamily="18" charset="0"/>
                        </a:rPr>
                        <a:t>12–28</a:t>
                      </a:r>
                    </a:p>
                  </a:txBody>
                  <a:tcPr anchor="ctr">
                    <a:solidFill>
                      <a:schemeClr val="bg1"/>
                    </a:solidFill>
                  </a:tcPr>
                </a:tc>
                <a:tc>
                  <a:txBody>
                    <a:bodyPr/>
                    <a:lstStyle/>
                    <a:p>
                      <a:pPr algn="just">
                        <a:buNone/>
                      </a:pPr>
                      <a:r>
                        <a:rPr lang="en-US" dirty="0">
                          <a:latin typeface="Times New Roman" panose="02020603050405020304" pitchFamily="18" charset="0"/>
                          <a:cs typeface="Times New Roman" panose="02020603050405020304" pitchFamily="18" charset="0"/>
                        </a:rPr>
                        <a:t>Personalization reduces search cost and increases purchase depth. It also enhances perceived relevance of product suggestions.</a:t>
                      </a:r>
                    </a:p>
                  </a:txBody>
                  <a:tcPr anchor="ctr">
                    <a:solidFill>
                      <a:schemeClr val="bg1"/>
                    </a:solidFill>
                  </a:tcPr>
                </a:tc>
                <a:extLst>
                  <a:ext uri="{0D108BD9-81ED-4DB2-BD59-A6C34878D82A}">
                    <a16:rowId xmlns:a16="http://schemas.microsoft.com/office/drawing/2014/main" val="1485544102"/>
                  </a:ext>
                </a:extLst>
              </a:tr>
              <a:tr h="956399">
                <a:tc>
                  <a:txBody>
                    <a:bodyPr/>
                    <a:lstStyle/>
                    <a:p>
                      <a:pPr>
                        <a:buNone/>
                      </a:pPr>
                      <a:r>
                        <a:rPr lang="en-US">
                          <a:latin typeface="Times New Roman" panose="02020603050405020304" pitchFamily="18" charset="0"/>
                          <a:cs typeface="Times New Roman" panose="02020603050405020304" pitchFamily="18" charset="0"/>
                        </a:rPr>
                        <a:t>2021 – Consumer Behaviour in Food Apps</a:t>
                      </a:r>
                    </a:p>
                  </a:txBody>
                  <a:tcPr anchor="ctr">
                    <a:solidFill>
                      <a:schemeClr val="bg1"/>
                    </a:solidFill>
                  </a:tcPr>
                </a:tc>
                <a:tc>
                  <a:txBody>
                    <a:bodyPr/>
                    <a:lstStyle/>
                    <a:p>
                      <a:pPr>
                        <a:buNone/>
                      </a:pPr>
                      <a:r>
                        <a:rPr lang="en-US">
                          <a:latin typeface="Times New Roman" panose="02020603050405020304" pitchFamily="18" charset="0"/>
                          <a:cs typeface="Times New Roman" panose="02020603050405020304" pitchFamily="18" charset="0"/>
                        </a:rPr>
                        <a:t>Tandon et al. – Research Study</a:t>
                      </a:r>
                    </a:p>
                  </a:txBody>
                  <a:tcPr anchor="ctr">
                    <a:solidFill>
                      <a:schemeClr val="bg1"/>
                    </a:solidFill>
                  </a:tcPr>
                </a:tc>
                <a:tc>
                  <a:txBody>
                    <a:bodyPr/>
                    <a:lstStyle/>
                    <a:p>
                      <a:pPr>
                        <a:buNone/>
                      </a:pPr>
                      <a:r>
                        <a:rPr lang="en-IN">
                          <a:latin typeface="Times New Roman" panose="02020603050405020304" pitchFamily="18" charset="0"/>
                          <a:cs typeface="Times New Roman" panose="02020603050405020304" pitchFamily="18" charset="0"/>
                        </a:rPr>
                        <a:t>45–60</a:t>
                      </a:r>
                    </a:p>
                  </a:txBody>
                  <a:tcPr anchor="ctr">
                    <a:solidFill>
                      <a:schemeClr val="bg1"/>
                    </a:solidFill>
                  </a:tcPr>
                </a:tc>
                <a:tc>
                  <a:txBody>
                    <a:bodyPr/>
                    <a:lstStyle/>
                    <a:p>
                      <a:pPr algn="just">
                        <a:buNone/>
                      </a:pPr>
                      <a:r>
                        <a:rPr lang="en-US" dirty="0">
                          <a:latin typeface="Times New Roman" panose="02020603050405020304" pitchFamily="18" charset="0"/>
                          <a:cs typeface="Times New Roman" panose="02020603050405020304" pitchFamily="18" charset="0"/>
                        </a:rPr>
                        <a:t>Convenience and perceived value influence purchase intention. Positive user experience strengthens customer attitudes toward apps.</a:t>
                      </a:r>
                    </a:p>
                  </a:txBody>
                  <a:tcPr anchor="ctr">
                    <a:solidFill>
                      <a:schemeClr val="bg1"/>
                    </a:solidFill>
                  </a:tcPr>
                </a:tc>
                <a:extLst>
                  <a:ext uri="{0D108BD9-81ED-4DB2-BD59-A6C34878D82A}">
                    <a16:rowId xmlns:a16="http://schemas.microsoft.com/office/drawing/2014/main" val="1035300608"/>
                  </a:ext>
                </a:extLst>
              </a:tr>
              <a:tr h="669479">
                <a:tc>
                  <a:txBody>
                    <a:bodyPr/>
                    <a:lstStyle/>
                    <a:p>
                      <a:pPr>
                        <a:buNone/>
                      </a:pPr>
                      <a:r>
                        <a:rPr lang="en-US">
                          <a:latin typeface="Times New Roman" panose="02020603050405020304" pitchFamily="18" charset="0"/>
                          <a:cs typeface="Times New Roman" panose="02020603050405020304" pitchFamily="18" charset="0"/>
                        </a:rPr>
                        <a:t>2019 – Online Food Delivery Behaviour Study</a:t>
                      </a:r>
                    </a:p>
                  </a:txBody>
                  <a:tcPr anchor="ctr">
                    <a:solidFill>
                      <a:schemeClr val="bg1"/>
                    </a:solidFill>
                  </a:tcPr>
                </a:tc>
                <a:tc>
                  <a:txBody>
                    <a:bodyPr/>
                    <a:lstStyle/>
                    <a:p>
                      <a:pPr>
                        <a:buNone/>
                      </a:pPr>
                      <a:r>
                        <a:rPr lang="en-IN">
                          <a:latin typeface="Times New Roman" panose="02020603050405020304" pitchFamily="18" charset="0"/>
                          <a:cs typeface="Times New Roman" panose="02020603050405020304" pitchFamily="18" charset="0"/>
                        </a:rPr>
                        <a:t>Various Authors – Academic Study</a:t>
                      </a:r>
                    </a:p>
                  </a:txBody>
                  <a:tcPr anchor="ctr">
                    <a:solidFill>
                      <a:schemeClr val="bg1"/>
                    </a:solidFill>
                  </a:tcPr>
                </a:tc>
                <a:tc>
                  <a:txBody>
                    <a:bodyPr/>
                    <a:lstStyle/>
                    <a:p>
                      <a:pPr>
                        <a:buNone/>
                      </a:pPr>
                      <a:r>
                        <a:rPr lang="en-IN">
                          <a:latin typeface="Times New Roman" panose="02020603050405020304" pitchFamily="18" charset="0"/>
                          <a:cs typeface="Times New Roman" panose="02020603050405020304" pitchFamily="18" charset="0"/>
                        </a:rPr>
                        <a:t>5–15</a:t>
                      </a:r>
                    </a:p>
                  </a:txBody>
                  <a:tcPr anchor="ctr">
                    <a:solidFill>
                      <a:schemeClr val="bg1"/>
                    </a:solidFill>
                  </a:tcPr>
                </a:tc>
                <a:tc>
                  <a:txBody>
                    <a:bodyPr/>
                    <a:lstStyle/>
                    <a:p>
                      <a:pPr algn="just">
                        <a:buNone/>
                      </a:pPr>
                      <a:r>
                        <a:rPr lang="en-US" dirty="0">
                          <a:latin typeface="Times New Roman" panose="02020603050405020304" pitchFamily="18" charset="0"/>
                          <a:cs typeface="Times New Roman" panose="02020603050405020304" pitchFamily="18" charset="0"/>
                        </a:rPr>
                        <a:t>Promotions, usability, and brand influence customer preference. Early findings highlight the importance of marketing incentives.</a:t>
                      </a:r>
                    </a:p>
                  </a:txBody>
                  <a:tcPr anchor="ctr">
                    <a:solidFill>
                      <a:schemeClr val="bg1"/>
                    </a:solidFill>
                  </a:tcPr>
                </a:tc>
                <a:extLst>
                  <a:ext uri="{0D108BD9-81ED-4DB2-BD59-A6C34878D82A}">
                    <a16:rowId xmlns:a16="http://schemas.microsoft.com/office/drawing/2014/main" val="4066136"/>
                  </a:ext>
                </a:extLst>
              </a:tr>
            </a:tbl>
          </a:graphicData>
        </a:graphic>
      </p:graphicFrame>
    </p:spTree>
    <p:extLst>
      <p:ext uri="{BB962C8B-B14F-4D97-AF65-F5344CB8AC3E}">
        <p14:creationId xmlns:p14="http://schemas.microsoft.com/office/powerpoint/2010/main" val="2533035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0D893C3D-E92B-54B4-773F-20FB55D1C20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0E5C7D1-4578-290E-50BF-BF3DF85F46FA}"/>
              </a:ext>
            </a:extLst>
          </p:cNvPr>
          <p:cNvSpPr/>
          <p:nvPr/>
        </p:nvSpPr>
        <p:spPr>
          <a:xfrm>
            <a:off x="0" y="1"/>
            <a:ext cx="12192000" cy="806244"/>
          </a:xfrm>
          <a:prstGeom prst="rect">
            <a:avLst/>
          </a:prstGeom>
          <a:gradFill>
            <a:gsLst>
              <a:gs pos="27000">
                <a:srgbClr val="E23744"/>
              </a:gs>
              <a:gs pos="73000">
                <a:srgbClr val="FC8019"/>
              </a:gs>
            </a:gsLst>
            <a:lin ang="5400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Problem Statement</a:t>
            </a:r>
            <a:endParaRPr lang="en-IN" i="1" dirty="0">
              <a:ln>
                <a:solidFill>
                  <a:schemeClr val="accent3">
                    <a:lumMod val="20000"/>
                    <a:lumOff val="80000"/>
                  </a:schemeClr>
                </a:solidFill>
              </a:ln>
              <a:latin typeface="Algerian" panose="04020705040A02060702" pitchFamily="82" charset="0"/>
            </a:endParaRPr>
          </a:p>
        </p:txBody>
      </p:sp>
      <p:sp>
        <p:nvSpPr>
          <p:cNvPr id="4" name="TextBox 3">
            <a:extLst>
              <a:ext uri="{FF2B5EF4-FFF2-40B4-BE49-F238E27FC236}">
                <a16:creationId xmlns:a16="http://schemas.microsoft.com/office/drawing/2014/main" id="{07897218-C15B-012C-4D7A-64831A6BE299}"/>
              </a:ext>
            </a:extLst>
          </p:cNvPr>
          <p:cNvSpPr txBox="1"/>
          <p:nvPr/>
        </p:nvSpPr>
        <p:spPr>
          <a:xfrm>
            <a:off x="216310" y="968416"/>
            <a:ext cx="11779045" cy="5688000"/>
          </a:xfrm>
          <a:prstGeom prst="roundRect">
            <a:avLst>
              <a:gd name="adj" fmla="val 4015"/>
            </a:avLst>
          </a:prstGeom>
          <a:noFill/>
          <a:ln>
            <a:solidFill>
              <a:srgbClr val="006666"/>
            </a:solidFill>
          </a:ln>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This study focuses on how food delivery apps like Zomato and Swiggy are changing the way customers make purchase decisions through personalization. These platforms use features like recommendations, offers, and notifications to influence users and improve their experience.</a:t>
            </a:r>
          </a:p>
          <a:p>
            <a:pPr algn="just">
              <a:buNone/>
            </a:pPr>
            <a:r>
              <a:rPr lang="en-US" sz="2400" dirty="0">
                <a:latin typeface="Times New Roman" panose="02020603050405020304" pitchFamily="18" charset="0"/>
                <a:cs typeface="Times New Roman" panose="02020603050405020304" pitchFamily="18" charset="0"/>
              </a:rPr>
              <a:t>However, even with these efforts, customers often do not respond to add-on suggestions like beverages, desserts, or side items. As a result, the number of add-on purchases remains low, which affects the overall order value and revenue. At the same time, customer behavior is quite unpredictable—people are very price-sensitive and frequently switch between apps instead of staying loyal to one.</a:t>
            </a:r>
          </a:p>
          <a:p>
            <a:pPr algn="just">
              <a:buNone/>
            </a:pPr>
            <a:r>
              <a:rPr lang="en-US" sz="2400" dirty="0">
                <a:latin typeface="Times New Roman" panose="02020603050405020304" pitchFamily="18" charset="0"/>
                <a:cs typeface="Times New Roman" panose="02020603050405020304" pitchFamily="18" charset="0"/>
              </a:rPr>
              <a:t>Although previous studies suggest that personalization can improve engagement and buying behavior, there is limited evidence in the Indian context, especially when it comes to add-on purchases. Also, it is not very clear whether factors like discounts, recommendations, or convenience actually influence customer decisions the most.</a:t>
            </a:r>
          </a:p>
          <a:p>
            <a:pPr algn="just">
              <a:buNone/>
            </a:pPr>
            <a:r>
              <a:rPr lang="en-US" sz="2400" dirty="0">
                <a:latin typeface="Times New Roman" panose="02020603050405020304" pitchFamily="18" charset="0"/>
                <a:cs typeface="Times New Roman" panose="02020603050405020304" pitchFamily="18" charset="0"/>
              </a:rPr>
              <a:t>So, this study aims to understand how personalization affects add-on buying behavior and to identify the key factors that influence customer purchasing decisions</a:t>
            </a:r>
          </a:p>
        </p:txBody>
      </p:sp>
    </p:spTree>
    <p:extLst>
      <p:ext uri="{BB962C8B-B14F-4D97-AF65-F5344CB8AC3E}">
        <p14:creationId xmlns:p14="http://schemas.microsoft.com/office/powerpoint/2010/main" val="4222371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305E4-2A9F-312B-9E3E-E56355EE919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E57C16E-7A29-444D-8BA5-CBB23AA368B4}"/>
              </a:ext>
            </a:extLst>
          </p:cNvPr>
          <p:cNvSpPr/>
          <p:nvPr/>
        </p:nvSpPr>
        <p:spPr>
          <a:xfrm>
            <a:off x="0" y="1"/>
            <a:ext cx="12192000" cy="806244"/>
          </a:xfrm>
          <a:prstGeom prst="rect">
            <a:avLst/>
          </a:prstGeom>
          <a:gradFill>
            <a:gsLst>
              <a:gs pos="55000">
                <a:srgbClr val="E23744"/>
              </a:gs>
              <a:gs pos="38000">
                <a:srgbClr val="FC8019"/>
              </a:gs>
            </a:gsLst>
            <a:lin ang="18000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latin typeface="Algerian" panose="04020705040A02060702" pitchFamily="82" charset="0"/>
              </a:rPr>
              <a:t>Objectives of the Study</a:t>
            </a:r>
            <a:endParaRPr lang="en-IN" sz="3200" dirty="0">
              <a:latin typeface="Algerian" panose="04020705040A02060702" pitchFamily="82" charset="0"/>
            </a:endParaRPr>
          </a:p>
        </p:txBody>
      </p:sp>
      <p:sp>
        <p:nvSpPr>
          <p:cNvPr id="4" name="TextBox 3">
            <a:extLst>
              <a:ext uri="{FF2B5EF4-FFF2-40B4-BE49-F238E27FC236}">
                <a16:creationId xmlns:a16="http://schemas.microsoft.com/office/drawing/2014/main" id="{4CE00B78-B653-FD61-581A-9D99658E8EBD}"/>
              </a:ext>
            </a:extLst>
          </p:cNvPr>
          <p:cNvSpPr txBox="1"/>
          <p:nvPr/>
        </p:nvSpPr>
        <p:spPr>
          <a:xfrm>
            <a:off x="398206" y="1043601"/>
            <a:ext cx="11395588" cy="3547426"/>
          </a:xfrm>
          <a:prstGeom prst="roundRect">
            <a:avLst>
              <a:gd name="adj" fmla="val 5858"/>
            </a:avLst>
          </a:prstGeom>
          <a:noFill/>
          <a:ln>
            <a:solidFill>
              <a:schemeClr val="accent2"/>
            </a:solidFill>
          </a:ln>
        </p:spPr>
        <p:txBody>
          <a:bodyPr wrap="square">
            <a:spAutoFit/>
          </a:bodyPr>
          <a:lstStyle/>
          <a:p>
            <a:pPr marL="6350" marR="3810" indent="-6350" algn="just">
              <a:lnSpc>
                <a:spcPct val="150000"/>
              </a:lnSpc>
              <a:spcAft>
                <a:spcPts val="800"/>
              </a:spcAft>
              <a:buNone/>
            </a:pPr>
            <a:r>
              <a:rPr lang="en-IN" sz="2400" b="1" kern="100" dirty="0">
                <a:solidFill>
                  <a:srgbClr val="000000"/>
                </a:solidFill>
                <a:effectLst/>
                <a:latin typeface="Times New Roman" panose="02020603050405020304" pitchFamily="18" charset="0"/>
                <a:ea typeface="Times New Roman" panose="02020603050405020304" pitchFamily="18" charset="0"/>
              </a:rPr>
              <a:t>1 :</a:t>
            </a:r>
            <a:r>
              <a:rPr lang="en-IN" sz="2400" kern="100" dirty="0">
                <a:solidFill>
                  <a:srgbClr val="000000"/>
                </a:solidFill>
                <a:effectLst/>
                <a:latin typeface="Times New Roman" panose="02020603050405020304" pitchFamily="18" charset="0"/>
                <a:ea typeface="Times New Roman" panose="02020603050405020304" pitchFamily="18" charset="0"/>
              </a:rPr>
              <a:t> To </a:t>
            </a:r>
            <a:r>
              <a:rPr lang="en-IN" sz="2400" kern="100" dirty="0" err="1">
                <a:solidFill>
                  <a:srgbClr val="000000"/>
                </a:solidFill>
                <a:effectLst/>
                <a:latin typeface="Times New Roman" panose="02020603050405020304" pitchFamily="18" charset="0"/>
                <a:ea typeface="Times New Roman" panose="02020603050405020304" pitchFamily="18" charset="0"/>
              </a:rPr>
              <a:t>analyze</a:t>
            </a:r>
            <a:r>
              <a:rPr lang="en-IN" sz="2400" kern="100" dirty="0">
                <a:solidFill>
                  <a:srgbClr val="000000"/>
                </a:solidFill>
                <a:effectLst/>
                <a:latin typeface="Times New Roman" panose="02020603050405020304" pitchFamily="18" charset="0"/>
                <a:ea typeface="Times New Roman" panose="02020603050405020304" pitchFamily="18" charset="0"/>
              </a:rPr>
              <a:t> personalization effects on add-on purchases.</a:t>
            </a:r>
          </a:p>
          <a:p>
            <a:pPr marL="6350" marR="3810" indent="-6350" algn="just">
              <a:lnSpc>
                <a:spcPct val="150000"/>
              </a:lnSpc>
              <a:spcAft>
                <a:spcPts val="800"/>
              </a:spcAft>
              <a:buNone/>
            </a:pPr>
            <a:r>
              <a:rPr lang="en-IN" sz="2400" b="1" kern="100" dirty="0">
                <a:solidFill>
                  <a:srgbClr val="000000"/>
                </a:solidFill>
                <a:effectLst/>
                <a:latin typeface="Times New Roman" panose="02020603050405020304" pitchFamily="18" charset="0"/>
                <a:ea typeface="Times New Roman" panose="02020603050405020304" pitchFamily="18" charset="0"/>
              </a:rPr>
              <a:t>2 :</a:t>
            </a:r>
            <a:r>
              <a:rPr lang="en-IN" sz="2400" kern="100" dirty="0">
                <a:solidFill>
                  <a:srgbClr val="000000"/>
                </a:solidFill>
                <a:effectLst/>
                <a:latin typeface="Times New Roman" panose="02020603050405020304" pitchFamily="18" charset="0"/>
                <a:ea typeface="Times New Roman" panose="02020603050405020304" pitchFamily="18" charset="0"/>
              </a:rPr>
              <a:t> To compare customer add-on preferences between Zomato and Swiggy.</a:t>
            </a:r>
          </a:p>
          <a:p>
            <a:pPr marL="6350" marR="3810" indent="-6350" algn="just">
              <a:lnSpc>
                <a:spcPct val="150000"/>
              </a:lnSpc>
              <a:spcAft>
                <a:spcPts val="800"/>
              </a:spcAft>
              <a:buNone/>
            </a:pPr>
            <a:r>
              <a:rPr lang="en-IN" sz="2400" b="1" kern="100" dirty="0">
                <a:solidFill>
                  <a:srgbClr val="000000"/>
                </a:solidFill>
                <a:effectLst/>
                <a:latin typeface="Times New Roman" panose="02020603050405020304" pitchFamily="18" charset="0"/>
                <a:ea typeface="Times New Roman" panose="02020603050405020304" pitchFamily="18" charset="0"/>
              </a:rPr>
              <a:t>3 :</a:t>
            </a:r>
            <a:r>
              <a:rPr lang="en-IN" sz="2400" kern="100" dirty="0">
                <a:solidFill>
                  <a:srgbClr val="000000"/>
                </a:solidFill>
                <a:effectLst/>
                <a:latin typeface="Times New Roman" panose="02020603050405020304" pitchFamily="18" charset="0"/>
                <a:ea typeface="Times New Roman" panose="02020603050405020304" pitchFamily="18" charset="0"/>
              </a:rPr>
              <a:t> To evaluate personalization features of food delivery apps.</a:t>
            </a:r>
          </a:p>
          <a:p>
            <a:pPr marL="6350" marR="3810" indent="-6350" algn="just">
              <a:lnSpc>
                <a:spcPct val="150000"/>
              </a:lnSpc>
              <a:spcAft>
                <a:spcPts val="800"/>
              </a:spcAft>
              <a:buNone/>
            </a:pPr>
            <a:r>
              <a:rPr lang="en-IN" sz="2400" b="1" kern="100" dirty="0">
                <a:solidFill>
                  <a:srgbClr val="000000"/>
                </a:solidFill>
                <a:effectLst/>
                <a:latin typeface="Times New Roman" panose="02020603050405020304" pitchFamily="18" charset="0"/>
                <a:ea typeface="Times New Roman" panose="02020603050405020304" pitchFamily="18" charset="0"/>
              </a:rPr>
              <a:t>4 :</a:t>
            </a:r>
            <a:r>
              <a:rPr lang="en-IN" sz="2400" kern="100" dirty="0">
                <a:solidFill>
                  <a:srgbClr val="000000"/>
                </a:solidFill>
                <a:effectLst/>
                <a:latin typeface="Times New Roman" panose="02020603050405020304" pitchFamily="18" charset="0"/>
                <a:ea typeface="Times New Roman" panose="02020603050405020304" pitchFamily="18" charset="0"/>
              </a:rPr>
              <a:t> To assess determinants of customers’ add-on spending patterns.</a:t>
            </a:r>
          </a:p>
          <a:p>
            <a:pPr marL="6350" marR="3810" indent="-6350" algn="just">
              <a:lnSpc>
                <a:spcPct val="150000"/>
              </a:lnSpc>
              <a:spcAft>
                <a:spcPts val="800"/>
              </a:spcAft>
              <a:buNone/>
            </a:pPr>
            <a:r>
              <a:rPr lang="en-IN" sz="2400" b="1" kern="100" dirty="0">
                <a:solidFill>
                  <a:srgbClr val="000000"/>
                </a:solidFill>
                <a:effectLst/>
                <a:latin typeface="Times New Roman" panose="02020603050405020304" pitchFamily="18" charset="0"/>
                <a:ea typeface="Times New Roman" panose="02020603050405020304" pitchFamily="18" charset="0"/>
              </a:rPr>
              <a:t>5 :</a:t>
            </a:r>
            <a:r>
              <a:rPr lang="en-IN" sz="2400" kern="100" dirty="0">
                <a:solidFill>
                  <a:srgbClr val="000000"/>
                </a:solidFill>
                <a:effectLst/>
                <a:latin typeface="Times New Roman" panose="02020603050405020304" pitchFamily="18" charset="0"/>
                <a:ea typeface="Times New Roman" panose="02020603050405020304" pitchFamily="18" charset="0"/>
              </a:rPr>
              <a:t> To examine add-on buying </a:t>
            </a:r>
            <a:r>
              <a:rPr lang="en-IN" sz="2400" kern="100" dirty="0" err="1">
                <a:solidFill>
                  <a:srgbClr val="000000"/>
                </a:solidFill>
                <a:effectLst/>
                <a:latin typeface="Times New Roman" panose="02020603050405020304" pitchFamily="18" charset="0"/>
                <a:ea typeface="Times New Roman" panose="02020603050405020304" pitchFamily="18" charset="0"/>
              </a:rPr>
              <a:t>behavior</a:t>
            </a:r>
            <a:r>
              <a:rPr lang="en-IN" sz="2400" kern="100" dirty="0">
                <a:solidFill>
                  <a:srgbClr val="000000"/>
                </a:solidFill>
                <a:effectLst/>
                <a:latin typeface="Times New Roman" panose="02020603050405020304" pitchFamily="18" charset="0"/>
                <a:ea typeface="Times New Roman" panose="02020603050405020304" pitchFamily="18" charset="0"/>
              </a:rPr>
              <a:t> across customer segments.</a:t>
            </a:r>
          </a:p>
        </p:txBody>
      </p:sp>
    </p:spTree>
    <p:extLst>
      <p:ext uri="{BB962C8B-B14F-4D97-AF65-F5344CB8AC3E}">
        <p14:creationId xmlns:p14="http://schemas.microsoft.com/office/powerpoint/2010/main" val="1066535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6"/>
        </a:solidFill>
        <a:effectLst/>
      </p:bgPr>
    </p:bg>
    <p:spTree>
      <p:nvGrpSpPr>
        <p:cNvPr id="1" name="">
          <a:extLst>
            <a:ext uri="{FF2B5EF4-FFF2-40B4-BE49-F238E27FC236}">
              <a16:creationId xmlns:a16="http://schemas.microsoft.com/office/drawing/2014/main" id="{CB752ADF-1AD1-5944-B3AE-6350ABB6870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30991E4-B5BA-2156-39D6-E5A2D4265DC8}"/>
              </a:ext>
            </a:extLst>
          </p:cNvPr>
          <p:cNvSpPr/>
          <p:nvPr/>
        </p:nvSpPr>
        <p:spPr>
          <a:xfrm>
            <a:off x="0" y="1"/>
            <a:ext cx="12192000" cy="806244"/>
          </a:xfrm>
          <a:prstGeom prst="rect">
            <a:avLst/>
          </a:prstGeom>
          <a:gradFill>
            <a:gsLst>
              <a:gs pos="27000">
                <a:srgbClr val="E23744"/>
              </a:gs>
              <a:gs pos="73000">
                <a:srgbClr val="FC8019"/>
              </a:gs>
            </a:gsLst>
            <a:lin ang="16200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Hypotheses</a:t>
            </a:r>
            <a:endParaRPr lang="en-IN" i="1" dirty="0">
              <a:ln>
                <a:solidFill>
                  <a:schemeClr val="accent3">
                    <a:lumMod val="20000"/>
                    <a:lumOff val="80000"/>
                  </a:schemeClr>
                </a:solidFill>
              </a:ln>
              <a:latin typeface="Algerian" panose="04020705040A02060702" pitchFamily="82" charset="0"/>
            </a:endParaRPr>
          </a:p>
        </p:txBody>
      </p:sp>
      <p:sp>
        <p:nvSpPr>
          <p:cNvPr id="5" name="TextBox 4">
            <a:extLst>
              <a:ext uri="{FF2B5EF4-FFF2-40B4-BE49-F238E27FC236}">
                <a16:creationId xmlns:a16="http://schemas.microsoft.com/office/drawing/2014/main" id="{0EC431D4-8741-F979-1FE0-F62B8F389D89}"/>
              </a:ext>
            </a:extLst>
          </p:cNvPr>
          <p:cNvSpPr txBox="1"/>
          <p:nvPr/>
        </p:nvSpPr>
        <p:spPr>
          <a:xfrm>
            <a:off x="344129" y="4583365"/>
            <a:ext cx="11503742" cy="1397404"/>
          </a:xfrm>
          <a:prstGeom prst="roundRect">
            <a:avLst/>
          </a:prstGeom>
          <a:solidFill>
            <a:srgbClr val="F8F9FA"/>
          </a:solidFill>
          <a:ln>
            <a:solidFill>
              <a:srgbClr val="006666"/>
            </a:solidFill>
          </a:ln>
        </p:spPr>
        <p:txBody>
          <a:bodyPr wrap="square" rtlCol="0">
            <a:spAutoFit/>
          </a:bodyPr>
          <a:lstStyle/>
          <a:p>
            <a:pPr marL="6350" marR="3810" indent="-6350" algn="just">
              <a:lnSpc>
                <a:spcPct val="115000"/>
              </a:lnSpc>
              <a:spcAft>
                <a:spcPts val="800"/>
              </a:spcAft>
              <a:buNone/>
            </a:pPr>
            <a:r>
              <a:rPr lang="en-IN" sz="2000" b="1" kern="100" dirty="0">
                <a:solidFill>
                  <a:srgbClr val="00B050"/>
                </a:solidFill>
                <a:latin typeface="Times New Roman" panose="02020603050405020304" pitchFamily="18" charset="0"/>
                <a:ea typeface="Times New Roman" panose="02020603050405020304" pitchFamily="18" charset="0"/>
              </a:rPr>
              <a:t>3: To assess determinants of customers’ add-on spending patterns.</a:t>
            </a:r>
          </a:p>
          <a:p>
            <a:pPr marL="342900" marR="3810" lvl="0" indent="-342900" algn="just">
              <a:lnSpc>
                <a:spcPct val="115000"/>
              </a:lnSpc>
              <a:spcAft>
                <a:spcPts val="800"/>
              </a:spcAft>
              <a:buSzPts val="1000"/>
              <a:buFont typeface="Wingdings" panose="05000000000000000000" pitchFamily="2" charset="2"/>
              <a:buChar char="Ø"/>
              <a:tabLst>
                <a:tab pos="457200" algn="l"/>
              </a:tabLst>
            </a:pPr>
            <a:r>
              <a:rPr lang="en-IN" b="1" kern="100" dirty="0">
                <a:solidFill>
                  <a:srgbClr val="00B050"/>
                </a:solidFill>
                <a:latin typeface="Times New Roman" panose="02020603050405020304" pitchFamily="18" charset="0"/>
                <a:ea typeface="Times New Roman" panose="02020603050405020304" pitchFamily="18" charset="0"/>
              </a:rPr>
              <a:t>H₀:</a:t>
            </a:r>
            <a:r>
              <a:rPr lang="en-IN" kern="100" dirty="0">
                <a:solidFill>
                  <a:srgbClr val="00B050"/>
                </a:solidFill>
                <a:latin typeface="Times New Roman" panose="02020603050405020304" pitchFamily="18" charset="0"/>
                <a:ea typeface="Times New Roman" panose="02020603050405020304" pitchFamily="18" charset="0"/>
              </a:rPr>
              <a:t> Determinants of add-on spending have no significant effect.</a:t>
            </a:r>
          </a:p>
          <a:p>
            <a:pPr marL="342900" marR="3810" lvl="0" indent="-342900" algn="just">
              <a:lnSpc>
                <a:spcPct val="115000"/>
              </a:lnSpc>
              <a:spcAft>
                <a:spcPts val="800"/>
              </a:spcAft>
              <a:buSzPts val="1000"/>
              <a:buFont typeface="Wingdings" panose="05000000000000000000" pitchFamily="2" charset="2"/>
              <a:buChar char="Ø"/>
              <a:tabLst>
                <a:tab pos="457200" algn="l"/>
              </a:tabLst>
            </a:pPr>
            <a:r>
              <a:rPr lang="en-IN" b="1" kern="100" dirty="0">
                <a:solidFill>
                  <a:srgbClr val="00B050"/>
                </a:solidFill>
                <a:latin typeface="Times New Roman" panose="02020603050405020304" pitchFamily="18" charset="0"/>
                <a:ea typeface="Times New Roman" panose="02020603050405020304" pitchFamily="18" charset="0"/>
              </a:rPr>
              <a:t>H₁:</a:t>
            </a:r>
            <a:r>
              <a:rPr lang="en-IN" kern="100" dirty="0">
                <a:solidFill>
                  <a:srgbClr val="00B050"/>
                </a:solidFill>
                <a:latin typeface="Times New Roman" panose="02020603050405020304" pitchFamily="18" charset="0"/>
                <a:ea typeface="Times New Roman" panose="02020603050405020304" pitchFamily="18" charset="0"/>
              </a:rPr>
              <a:t> Determinants of add-on spending have a significant effect.</a:t>
            </a:r>
          </a:p>
        </p:txBody>
      </p:sp>
      <p:sp>
        <p:nvSpPr>
          <p:cNvPr id="6" name="TextBox 5">
            <a:extLst>
              <a:ext uri="{FF2B5EF4-FFF2-40B4-BE49-F238E27FC236}">
                <a16:creationId xmlns:a16="http://schemas.microsoft.com/office/drawing/2014/main" id="{D8ECDC71-8139-2FB1-32B5-8D99B19B1A4F}"/>
              </a:ext>
            </a:extLst>
          </p:cNvPr>
          <p:cNvSpPr txBox="1"/>
          <p:nvPr/>
        </p:nvSpPr>
        <p:spPr>
          <a:xfrm>
            <a:off x="344129" y="2797901"/>
            <a:ext cx="11503742" cy="1483173"/>
          </a:xfrm>
          <a:prstGeom prst="roundRect">
            <a:avLst/>
          </a:prstGeom>
          <a:solidFill>
            <a:srgbClr val="F8F9FA"/>
          </a:solidFill>
          <a:ln>
            <a:solidFill>
              <a:srgbClr val="006666"/>
            </a:solidFill>
          </a:ln>
        </p:spPr>
        <p:txBody>
          <a:bodyPr wrap="square" rtlCol="0">
            <a:spAutoFit/>
          </a:bodyPr>
          <a:lstStyle/>
          <a:p>
            <a:pPr algn="just">
              <a:lnSpc>
                <a:spcPct val="150000"/>
              </a:lnSpc>
            </a:pPr>
            <a:r>
              <a:rPr lang="en-IN" sz="2000" b="1" dirty="0">
                <a:solidFill>
                  <a:srgbClr val="FBBF24"/>
                </a:solidFill>
                <a:latin typeface="Times New Roman" panose="02020603050405020304" pitchFamily="18" charset="0"/>
                <a:cs typeface="Times New Roman" panose="02020603050405020304" pitchFamily="18" charset="0"/>
              </a:rPr>
              <a:t>2 : To evaluate personalization features of food delivery apps.</a:t>
            </a:r>
          </a:p>
          <a:p>
            <a:pPr marL="285750" lvl="0" indent="-285750" algn="just">
              <a:lnSpc>
                <a:spcPct val="150000"/>
              </a:lnSpc>
              <a:buFont typeface="Wingdings" panose="05000000000000000000" pitchFamily="2" charset="2"/>
              <a:buChar char="Ø"/>
            </a:pPr>
            <a:r>
              <a:rPr lang="en-IN" b="1" dirty="0">
                <a:solidFill>
                  <a:srgbClr val="FBBF24"/>
                </a:solidFill>
                <a:latin typeface="Times New Roman" panose="02020603050405020304" pitchFamily="18" charset="0"/>
                <a:cs typeface="Times New Roman" panose="02020603050405020304" pitchFamily="18" charset="0"/>
              </a:rPr>
              <a:t>H₀:</a:t>
            </a:r>
            <a:r>
              <a:rPr lang="en-IN" dirty="0">
                <a:solidFill>
                  <a:srgbClr val="FBBF24"/>
                </a:solidFill>
                <a:latin typeface="Times New Roman" panose="02020603050405020304" pitchFamily="18" charset="0"/>
                <a:cs typeface="Times New Roman" panose="02020603050405020304" pitchFamily="18" charset="0"/>
              </a:rPr>
              <a:t> Personalization features do not significantly influence add-on buying decisions.</a:t>
            </a:r>
          </a:p>
          <a:p>
            <a:pPr marL="285750" lvl="0" indent="-285750" algn="just">
              <a:lnSpc>
                <a:spcPct val="150000"/>
              </a:lnSpc>
              <a:buFont typeface="Wingdings" panose="05000000000000000000" pitchFamily="2" charset="2"/>
              <a:buChar char="Ø"/>
            </a:pPr>
            <a:r>
              <a:rPr lang="en-IN" b="1" dirty="0">
                <a:solidFill>
                  <a:srgbClr val="FBBF24"/>
                </a:solidFill>
                <a:latin typeface="Times New Roman" panose="02020603050405020304" pitchFamily="18" charset="0"/>
                <a:cs typeface="Times New Roman" panose="02020603050405020304" pitchFamily="18" charset="0"/>
              </a:rPr>
              <a:t>H₁:</a:t>
            </a:r>
            <a:r>
              <a:rPr lang="en-IN" dirty="0">
                <a:solidFill>
                  <a:srgbClr val="FBBF24"/>
                </a:solidFill>
                <a:latin typeface="Times New Roman" panose="02020603050405020304" pitchFamily="18" charset="0"/>
                <a:cs typeface="Times New Roman" panose="02020603050405020304" pitchFamily="18" charset="0"/>
              </a:rPr>
              <a:t> Personalization features significantly influence add-on buying decisions</a:t>
            </a:r>
            <a:r>
              <a:rPr lang="en-IN" dirty="0">
                <a:solidFill>
                  <a:srgbClr val="FBBF24"/>
                </a:solidFill>
              </a:rPr>
              <a:t>.</a:t>
            </a:r>
          </a:p>
        </p:txBody>
      </p:sp>
      <p:sp>
        <p:nvSpPr>
          <p:cNvPr id="7" name="TextBox 6">
            <a:extLst>
              <a:ext uri="{FF2B5EF4-FFF2-40B4-BE49-F238E27FC236}">
                <a16:creationId xmlns:a16="http://schemas.microsoft.com/office/drawing/2014/main" id="{BEF73E9C-A05A-1225-3C45-1698D9E386AA}"/>
              </a:ext>
            </a:extLst>
          </p:cNvPr>
          <p:cNvSpPr txBox="1"/>
          <p:nvPr/>
        </p:nvSpPr>
        <p:spPr>
          <a:xfrm>
            <a:off x="344129" y="1018326"/>
            <a:ext cx="11503742" cy="1477284"/>
          </a:xfrm>
          <a:prstGeom prst="roundRect">
            <a:avLst/>
          </a:prstGeom>
          <a:solidFill>
            <a:srgbClr val="F8F9FA"/>
          </a:solidFill>
          <a:ln>
            <a:solidFill>
              <a:srgbClr val="006666"/>
            </a:solidFill>
          </a:ln>
        </p:spPr>
        <p:txBody>
          <a:bodyPr wrap="square" rtlCol="0">
            <a:spAutoFit/>
          </a:bodyPr>
          <a:lstStyle/>
          <a:p>
            <a:pPr>
              <a:lnSpc>
                <a:spcPct val="150000"/>
              </a:lnSpc>
            </a:pPr>
            <a:r>
              <a:rPr lang="en-IN" sz="2000" b="1" dirty="0">
                <a:solidFill>
                  <a:srgbClr val="2C2C54"/>
                </a:solidFill>
                <a:latin typeface="Times New Roman" panose="02020603050405020304" pitchFamily="18" charset="0"/>
                <a:cs typeface="Times New Roman" panose="02020603050405020304" pitchFamily="18" charset="0"/>
              </a:rPr>
              <a:t>1 : To compare customer add-on preferences between Zomato and Swiggy.</a:t>
            </a:r>
          </a:p>
          <a:p>
            <a:pPr marL="285750" lvl="0" indent="-285750" algn="just">
              <a:lnSpc>
                <a:spcPct val="150000"/>
              </a:lnSpc>
              <a:buFont typeface="Wingdings" panose="05000000000000000000" pitchFamily="2" charset="2"/>
              <a:buChar char="Ø"/>
            </a:pPr>
            <a:r>
              <a:rPr lang="en-IN" b="1" dirty="0">
                <a:solidFill>
                  <a:srgbClr val="2C2C54"/>
                </a:solidFill>
                <a:latin typeface="Times New Roman" panose="02020603050405020304" pitchFamily="18" charset="0"/>
                <a:cs typeface="Times New Roman" panose="02020603050405020304" pitchFamily="18" charset="0"/>
              </a:rPr>
              <a:t>H₀:</a:t>
            </a:r>
            <a:r>
              <a:rPr lang="en-IN" dirty="0">
                <a:solidFill>
                  <a:srgbClr val="2C2C54"/>
                </a:solidFill>
                <a:latin typeface="Times New Roman" panose="02020603050405020304" pitchFamily="18" charset="0"/>
                <a:cs typeface="Times New Roman" panose="02020603050405020304" pitchFamily="18" charset="0"/>
              </a:rPr>
              <a:t> There is no significant difference in add-on preferences between Zomato and Swiggy.</a:t>
            </a:r>
          </a:p>
          <a:p>
            <a:pPr marL="285750" lvl="0" indent="-285750" algn="just">
              <a:lnSpc>
                <a:spcPct val="150000"/>
              </a:lnSpc>
              <a:buFont typeface="Wingdings" panose="05000000000000000000" pitchFamily="2" charset="2"/>
              <a:buChar char="Ø"/>
            </a:pPr>
            <a:r>
              <a:rPr lang="en-IN" b="1" dirty="0">
                <a:solidFill>
                  <a:srgbClr val="2C2C54"/>
                </a:solidFill>
                <a:latin typeface="Times New Roman" panose="02020603050405020304" pitchFamily="18" charset="0"/>
                <a:cs typeface="Times New Roman" panose="02020603050405020304" pitchFamily="18" charset="0"/>
              </a:rPr>
              <a:t>H₁:</a:t>
            </a:r>
            <a:r>
              <a:rPr lang="en-IN" dirty="0">
                <a:solidFill>
                  <a:srgbClr val="2C2C54"/>
                </a:solidFill>
                <a:latin typeface="Times New Roman" panose="02020603050405020304" pitchFamily="18" charset="0"/>
                <a:cs typeface="Times New Roman" panose="02020603050405020304" pitchFamily="18" charset="0"/>
              </a:rPr>
              <a:t> There is a significant difference in add-on preferences between Zomato and Swiggy.</a:t>
            </a:r>
          </a:p>
        </p:txBody>
      </p:sp>
    </p:spTree>
    <p:extLst>
      <p:ext uri="{BB962C8B-B14F-4D97-AF65-F5344CB8AC3E}">
        <p14:creationId xmlns:p14="http://schemas.microsoft.com/office/powerpoint/2010/main" val="3824545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CEF"/>
        </a:solidFill>
        <a:effectLst/>
      </p:bgPr>
    </p:bg>
    <p:spTree>
      <p:nvGrpSpPr>
        <p:cNvPr id="1" name="">
          <a:extLst>
            <a:ext uri="{FF2B5EF4-FFF2-40B4-BE49-F238E27FC236}">
              <a16:creationId xmlns:a16="http://schemas.microsoft.com/office/drawing/2014/main" id="{F8C8C513-7D92-1447-58F0-3A9DB127BC2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25C558E-C3B1-89ED-ACAA-C28E8BCE3592}"/>
              </a:ext>
            </a:extLst>
          </p:cNvPr>
          <p:cNvSpPr/>
          <p:nvPr/>
        </p:nvSpPr>
        <p:spPr>
          <a:xfrm>
            <a:off x="0" y="1"/>
            <a:ext cx="12192000" cy="806244"/>
          </a:xfrm>
          <a:prstGeom prst="rect">
            <a:avLst/>
          </a:prstGeom>
          <a:gradFill>
            <a:gsLst>
              <a:gs pos="27000">
                <a:srgbClr val="E23744"/>
              </a:gs>
              <a:gs pos="73000">
                <a:srgbClr val="FC8019"/>
              </a:gs>
            </a:gsLst>
            <a:lin ang="7200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Research  Methodology</a:t>
            </a:r>
            <a:endParaRPr lang="en-IN" i="1" dirty="0">
              <a:ln>
                <a:solidFill>
                  <a:schemeClr val="accent3">
                    <a:lumMod val="20000"/>
                    <a:lumOff val="80000"/>
                  </a:schemeClr>
                </a:solidFill>
              </a:ln>
              <a:latin typeface="Algerian" panose="04020705040A02060702" pitchFamily="82" charset="0"/>
            </a:endParaRPr>
          </a:p>
        </p:txBody>
      </p:sp>
      <p:sp>
        <p:nvSpPr>
          <p:cNvPr id="4" name="TextBox 3">
            <a:extLst>
              <a:ext uri="{FF2B5EF4-FFF2-40B4-BE49-F238E27FC236}">
                <a16:creationId xmlns:a16="http://schemas.microsoft.com/office/drawing/2014/main" id="{63C4293D-3DB0-1A42-A9A6-8C3323DF183B}"/>
              </a:ext>
            </a:extLst>
          </p:cNvPr>
          <p:cNvSpPr txBox="1"/>
          <p:nvPr/>
        </p:nvSpPr>
        <p:spPr>
          <a:xfrm>
            <a:off x="226142" y="1069553"/>
            <a:ext cx="11739716" cy="5472000"/>
          </a:xfrm>
          <a:prstGeom prst="roundRect">
            <a:avLst>
              <a:gd name="adj" fmla="val 7081"/>
            </a:avLst>
          </a:prstGeom>
          <a:solidFill>
            <a:srgbClr val="F8F9FA"/>
          </a:solidFill>
          <a:ln>
            <a:solidFill>
              <a:srgbClr val="E23744"/>
            </a:solidFill>
          </a:ln>
        </p:spPr>
        <p:txBody>
          <a:bodyPr wrap="square">
            <a:spAutoFit/>
          </a:bodyPr>
          <a:lstStyle/>
          <a:p>
            <a:r>
              <a:rPr lang="en-IN" sz="2400" b="1" dirty="0">
                <a:solidFill>
                  <a:srgbClr val="00B050"/>
                </a:solidFill>
                <a:latin typeface="Times New Roman" panose="02020603050405020304" pitchFamily="18" charset="0"/>
                <a:cs typeface="Times New Roman" panose="02020603050405020304" pitchFamily="18" charset="0"/>
              </a:rPr>
              <a:t>Sample Design</a:t>
            </a:r>
          </a:p>
          <a:p>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Sample Population:</a:t>
            </a:r>
            <a:r>
              <a:rPr lang="en-IN" sz="2000" dirty="0">
                <a:latin typeface="Times New Roman" panose="02020603050405020304" pitchFamily="18" charset="0"/>
                <a:cs typeface="Times New Roman" panose="02020603050405020304" pitchFamily="18" charset="0"/>
              </a:rPr>
              <a:t> Customers using food delivery applications.</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Sampling Frame:</a:t>
            </a:r>
            <a:r>
              <a:rPr lang="en-IN" sz="2000" dirty="0">
                <a:latin typeface="Times New Roman" panose="02020603050405020304" pitchFamily="18" charset="0"/>
                <a:cs typeface="Times New Roman" panose="02020603050405020304" pitchFamily="18" charset="0"/>
              </a:rPr>
              <a:t> Active users of food delivery apps during the study period.</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Sample Area: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Sangamner</a:t>
            </a:r>
            <a:r>
              <a:rPr lang="en-IN" sz="2000" dirty="0">
                <a:latin typeface="Times New Roman" panose="02020603050405020304" pitchFamily="18" charset="0"/>
                <a:cs typeface="Times New Roman" panose="02020603050405020304" pitchFamily="18" charset="0"/>
              </a:rPr>
              <a:t> city.</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Sample Size:</a:t>
            </a:r>
            <a:r>
              <a:rPr lang="en-IN" sz="2000" dirty="0">
                <a:latin typeface="Times New Roman" panose="02020603050405020304" pitchFamily="18" charset="0"/>
                <a:cs typeface="Times New Roman" panose="02020603050405020304" pitchFamily="18" charset="0"/>
              </a:rPr>
              <a:t> 100–120 respondents.</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Sample Technique:</a:t>
            </a:r>
            <a:r>
              <a:rPr lang="en-IN" sz="2000" dirty="0">
                <a:latin typeface="Times New Roman" panose="02020603050405020304" pitchFamily="18" charset="0"/>
                <a:cs typeface="Times New Roman" panose="02020603050405020304" pitchFamily="18" charset="0"/>
              </a:rPr>
              <a:t> Convenience sampling method.</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Sample Instrument:</a:t>
            </a:r>
            <a:r>
              <a:rPr lang="en-IN" sz="2000" dirty="0">
                <a:latin typeface="Times New Roman" panose="02020603050405020304" pitchFamily="18" charset="0"/>
                <a:cs typeface="Times New Roman" panose="02020603050405020304" pitchFamily="18" charset="0"/>
              </a:rPr>
              <a:t> Structured questionnaire consisting of close-ended and Likert-scale questions related to personalization and add-on buying behaviour.</a:t>
            </a:r>
          </a:p>
        </p:txBody>
      </p:sp>
    </p:spTree>
    <p:extLst>
      <p:ext uri="{BB962C8B-B14F-4D97-AF65-F5344CB8AC3E}">
        <p14:creationId xmlns:p14="http://schemas.microsoft.com/office/powerpoint/2010/main" val="1700452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CEF"/>
        </a:solidFill>
        <a:effectLst/>
      </p:bgPr>
    </p:bg>
    <p:spTree>
      <p:nvGrpSpPr>
        <p:cNvPr id="1" name="">
          <a:extLst>
            <a:ext uri="{FF2B5EF4-FFF2-40B4-BE49-F238E27FC236}">
              <a16:creationId xmlns:a16="http://schemas.microsoft.com/office/drawing/2014/main" id="{AC2D80BE-72FF-3FCA-FFCA-7AEF133CA1D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4635222-8E9F-ABAC-FD7F-33DEA1999DED}"/>
              </a:ext>
            </a:extLst>
          </p:cNvPr>
          <p:cNvSpPr/>
          <p:nvPr/>
        </p:nvSpPr>
        <p:spPr>
          <a:xfrm>
            <a:off x="0" y="1"/>
            <a:ext cx="12192000" cy="806244"/>
          </a:xfrm>
          <a:prstGeom prst="rect">
            <a:avLst/>
          </a:prstGeom>
          <a:gradFill>
            <a:gsLst>
              <a:gs pos="27000">
                <a:srgbClr val="E23744"/>
              </a:gs>
              <a:gs pos="73000">
                <a:srgbClr val="FC8019"/>
              </a:gs>
            </a:gsLst>
            <a:lin ang="4800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Research  Methodology</a:t>
            </a:r>
            <a:endParaRPr lang="en-IN" i="1" dirty="0">
              <a:ln>
                <a:solidFill>
                  <a:schemeClr val="accent3">
                    <a:lumMod val="20000"/>
                    <a:lumOff val="80000"/>
                  </a:schemeClr>
                </a:solidFill>
              </a:ln>
              <a:latin typeface="Algerian" panose="04020705040A02060702" pitchFamily="82" charset="0"/>
            </a:endParaRPr>
          </a:p>
        </p:txBody>
      </p:sp>
      <p:sp>
        <p:nvSpPr>
          <p:cNvPr id="3" name="TextBox 2">
            <a:extLst>
              <a:ext uri="{FF2B5EF4-FFF2-40B4-BE49-F238E27FC236}">
                <a16:creationId xmlns:a16="http://schemas.microsoft.com/office/drawing/2014/main" id="{DD189450-6150-14A6-1046-BAC786DD6031}"/>
              </a:ext>
            </a:extLst>
          </p:cNvPr>
          <p:cNvSpPr txBox="1"/>
          <p:nvPr/>
        </p:nvSpPr>
        <p:spPr>
          <a:xfrm>
            <a:off x="290051" y="1014184"/>
            <a:ext cx="11611897" cy="3166824"/>
          </a:xfrm>
          <a:prstGeom prst="roundRect">
            <a:avLst>
              <a:gd name="adj" fmla="val 10457"/>
            </a:avLst>
          </a:prstGeom>
          <a:solidFill>
            <a:srgbClr val="F8F9FA"/>
          </a:solidFill>
          <a:ln>
            <a:solidFill>
              <a:srgbClr val="006666"/>
            </a:solidFill>
          </a:ln>
        </p:spPr>
        <p:txBody>
          <a:bodyPr wrap="square" rtlCol="0">
            <a:spAutoFit/>
          </a:bodyPr>
          <a:lstStyle/>
          <a:p>
            <a:r>
              <a:rPr lang="en-IN" sz="2000" b="1" dirty="0">
                <a:solidFill>
                  <a:srgbClr val="00B050"/>
                </a:solidFill>
                <a:latin typeface="Times New Roman" panose="02020603050405020304" pitchFamily="18" charset="0"/>
                <a:cs typeface="Times New Roman" panose="02020603050405020304" pitchFamily="18" charset="0"/>
              </a:rPr>
              <a:t>Types of Research Design</a:t>
            </a:r>
            <a:endParaRPr lang="en-IN" sz="2000" dirty="0">
              <a:solidFill>
                <a:srgbClr val="00B050"/>
              </a:solidFill>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Descriptive Research Design: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Analyzes customer preferences and add-on purchase patterns using primary data from Zomato and Swiggy users.</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Causal (Explanatory) Research Design: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Examines the cause-and-effect relationship between personalization and add-on buying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and tests its impact.</a:t>
            </a:r>
          </a:p>
        </p:txBody>
      </p:sp>
      <p:sp>
        <p:nvSpPr>
          <p:cNvPr id="5" name="TextBox 4">
            <a:extLst>
              <a:ext uri="{FF2B5EF4-FFF2-40B4-BE49-F238E27FC236}">
                <a16:creationId xmlns:a16="http://schemas.microsoft.com/office/drawing/2014/main" id="{53BD4A85-C318-7C27-471C-8CBA4933611C}"/>
              </a:ext>
            </a:extLst>
          </p:cNvPr>
          <p:cNvSpPr txBox="1"/>
          <p:nvPr/>
        </p:nvSpPr>
        <p:spPr>
          <a:xfrm>
            <a:off x="290051" y="4388948"/>
            <a:ext cx="11611897" cy="2145268"/>
          </a:xfrm>
          <a:prstGeom prst="roundRect">
            <a:avLst/>
          </a:prstGeom>
          <a:solidFill>
            <a:srgbClr val="F8F9FA"/>
          </a:solidFill>
          <a:ln>
            <a:solidFill>
              <a:srgbClr val="006666"/>
            </a:solidFill>
          </a:ln>
        </p:spPr>
        <p:txBody>
          <a:bodyPr wrap="square" rtlCol="0">
            <a:spAutoFit/>
          </a:bodyPr>
          <a:lstStyle/>
          <a:p>
            <a:r>
              <a:rPr lang="en-IN" sz="2000" b="1" dirty="0">
                <a:solidFill>
                  <a:srgbClr val="00B050"/>
                </a:solidFill>
                <a:latin typeface="Times New Roman" panose="02020603050405020304" pitchFamily="18" charset="0"/>
                <a:cs typeface="Times New Roman" panose="02020603050405020304" pitchFamily="18" charset="0"/>
              </a:rPr>
              <a:t>Sources of Data Collection</a:t>
            </a:r>
            <a:endParaRPr lang="en-US" sz="2000" b="1" dirty="0">
              <a:solidFill>
                <a:srgbClr val="00B05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Primary Data:</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Collected through a structured questionnaire capturing personalization, add-on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and spending patterns.</a:t>
            </a: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Secondary Data:</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Collected from journals, reports, and studies to support theory and analysis.</a:t>
            </a:r>
          </a:p>
        </p:txBody>
      </p:sp>
    </p:spTree>
    <p:extLst>
      <p:ext uri="{BB962C8B-B14F-4D97-AF65-F5344CB8AC3E}">
        <p14:creationId xmlns:p14="http://schemas.microsoft.com/office/powerpoint/2010/main" val="207400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CEF"/>
        </a:solidFill>
        <a:effectLst/>
      </p:bgPr>
    </p:bg>
    <p:spTree>
      <p:nvGrpSpPr>
        <p:cNvPr id="1" name="">
          <a:extLst>
            <a:ext uri="{FF2B5EF4-FFF2-40B4-BE49-F238E27FC236}">
              <a16:creationId xmlns:a16="http://schemas.microsoft.com/office/drawing/2014/main" id="{9F269000-3C92-9C26-1F8A-8F1514C5C29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C595691-1E17-76CD-6ED4-17C58EAE420C}"/>
              </a:ext>
            </a:extLst>
          </p:cNvPr>
          <p:cNvSpPr/>
          <p:nvPr/>
        </p:nvSpPr>
        <p:spPr>
          <a:xfrm>
            <a:off x="0" y="1"/>
            <a:ext cx="12192000" cy="806244"/>
          </a:xfrm>
          <a:prstGeom prst="rect">
            <a:avLst/>
          </a:prstGeom>
          <a:gradFill>
            <a:gsLst>
              <a:gs pos="27000">
                <a:srgbClr val="E23744"/>
              </a:gs>
              <a:gs pos="73000">
                <a:srgbClr val="FC8019"/>
              </a:gs>
            </a:gsLst>
            <a:lin ang="4800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Research  Methodology</a:t>
            </a:r>
            <a:endParaRPr lang="en-IN" i="1" dirty="0">
              <a:ln>
                <a:solidFill>
                  <a:schemeClr val="accent3">
                    <a:lumMod val="20000"/>
                    <a:lumOff val="80000"/>
                  </a:schemeClr>
                </a:solidFill>
              </a:ln>
              <a:latin typeface="Algerian" panose="04020705040A02060702" pitchFamily="82" charset="0"/>
            </a:endParaRPr>
          </a:p>
        </p:txBody>
      </p:sp>
      <p:sp>
        <p:nvSpPr>
          <p:cNvPr id="3" name="TextBox 2">
            <a:extLst>
              <a:ext uri="{FF2B5EF4-FFF2-40B4-BE49-F238E27FC236}">
                <a16:creationId xmlns:a16="http://schemas.microsoft.com/office/drawing/2014/main" id="{C4EB88D9-0419-83EA-FC17-DE602B835412}"/>
              </a:ext>
            </a:extLst>
          </p:cNvPr>
          <p:cNvSpPr txBox="1"/>
          <p:nvPr/>
        </p:nvSpPr>
        <p:spPr>
          <a:xfrm>
            <a:off x="290050" y="1014184"/>
            <a:ext cx="11611897" cy="2088000"/>
          </a:xfrm>
          <a:prstGeom prst="roundRect">
            <a:avLst>
              <a:gd name="adj" fmla="val 10457"/>
            </a:avLst>
          </a:prstGeom>
          <a:solidFill>
            <a:srgbClr val="F8F9FA"/>
          </a:solidFill>
          <a:ln>
            <a:solidFill>
              <a:srgbClr val="006666"/>
            </a:solidFill>
          </a:ln>
        </p:spPr>
        <p:txBody>
          <a:bodyPr wrap="square" rtlCol="0">
            <a:spAutoFit/>
          </a:bodyPr>
          <a:lstStyle/>
          <a:p>
            <a:r>
              <a:rPr lang="en-US" sz="2000" b="1" dirty="0">
                <a:solidFill>
                  <a:srgbClr val="00B0F0"/>
                </a:solidFill>
                <a:latin typeface="Times New Roman" panose="02020603050405020304" pitchFamily="18" charset="0"/>
                <a:cs typeface="Times New Roman" panose="02020603050405020304" pitchFamily="18" charset="0"/>
              </a:rPr>
              <a:t>Need &amp; Significance of the Study:</a:t>
            </a:r>
          </a:p>
          <a:p>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Helps food delivery platforms understand customer preferences and the impact of personalization on add-on purchases. Provides insights for marketers and developers to improve recommendations, customer satisfaction, and revenue.</a:t>
            </a:r>
          </a:p>
        </p:txBody>
      </p:sp>
      <p:sp>
        <p:nvSpPr>
          <p:cNvPr id="5" name="TextBox 4">
            <a:extLst>
              <a:ext uri="{FF2B5EF4-FFF2-40B4-BE49-F238E27FC236}">
                <a16:creationId xmlns:a16="http://schemas.microsoft.com/office/drawing/2014/main" id="{6A1E3B63-0594-56CF-8A1D-5FFED4E2D5F0}"/>
              </a:ext>
            </a:extLst>
          </p:cNvPr>
          <p:cNvSpPr txBox="1"/>
          <p:nvPr/>
        </p:nvSpPr>
        <p:spPr>
          <a:xfrm>
            <a:off x="290050" y="3429000"/>
            <a:ext cx="11611897" cy="2973050"/>
          </a:xfrm>
          <a:prstGeom prst="roundRect">
            <a:avLst>
              <a:gd name="adj" fmla="val 6421"/>
            </a:avLst>
          </a:prstGeom>
          <a:solidFill>
            <a:srgbClr val="F8F9FA"/>
          </a:solidFill>
          <a:ln>
            <a:solidFill>
              <a:srgbClr val="006666"/>
            </a:solidFill>
          </a:ln>
        </p:spPr>
        <p:txBody>
          <a:bodyPr wrap="square" rtlCol="0">
            <a:spAutoFit/>
          </a:bodyPr>
          <a:lstStyle/>
          <a:p>
            <a:r>
              <a:rPr lang="en-US" sz="2000" b="1" dirty="0">
                <a:solidFill>
                  <a:srgbClr val="00B050"/>
                </a:solidFill>
                <a:latin typeface="Times New Roman" panose="02020603050405020304" pitchFamily="18" charset="0"/>
                <a:cs typeface="Times New Roman" panose="02020603050405020304" pitchFamily="18" charset="0"/>
              </a:rPr>
              <a:t>LIMITATIONS OF THE STUDY</a:t>
            </a:r>
          </a:p>
          <a:p>
            <a:endParaRPr lang="en-US"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study is based on a small sample size, which may limit generalization of results. </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relies on self-reported responses, which may include bias or inaccuracies. </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Time constraints limited in-depth analysis and advanced statistical techniques. </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study focuses only on selected platforms (Zomato and Swiggy), reducing broader applicability.</a:t>
            </a:r>
          </a:p>
        </p:txBody>
      </p:sp>
    </p:spTree>
    <p:extLst>
      <p:ext uri="{BB962C8B-B14F-4D97-AF65-F5344CB8AC3E}">
        <p14:creationId xmlns:p14="http://schemas.microsoft.com/office/powerpoint/2010/main" val="334432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C4503141-BCE2-1093-5189-814DF50E275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25409F9-C8F3-B23F-FF6D-B7BFDFB21410}"/>
              </a:ext>
            </a:extLst>
          </p:cNvPr>
          <p:cNvSpPr/>
          <p:nvPr/>
        </p:nvSpPr>
        <p:spPr>
          <a:xfrm>
            <a:off x="0" y="1"/>
            <a:ext cx="12192000" cy="806244"/>
          </a:xfrm>
          <a:prstGeom prst="rect">
            <a:avLst/>
          </a:prstGeom>
          <a:gradFill>
            <a:gsLst>
              <a:gs pos="27000">
                <a:srgbClr val="E23744"/>
              </a:gs>
              <a:gs pos="73000">
                <a:srgbClr val="FC8019"/>
              </a:gs>
            </a:gsLst>
            <a:lin ang="14400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Results </a:t>
            </a:r>
            <a:endParaRPr lang="en-IN" i="1" dirty="0">
              <a:ln>
                <a:solidFill>
                  <a:schemeClr val="accent3">
                    <a:lumMod val="20000"/>
                    <a:lumOff val="80000"/>
                  </a:schemeClr>
                </a:solidFill>
              </a:ln>
              <a:latin typeface="Algerian" panose="04020705040A02060702" pitchFamily="82" charset="0"/>
            </a:endParaRPr>
          </a:p>
        </p:txBody>
      </p:sp>
      <p:sp>
        <p:nvSpPr>
          <p:cNvPr id="4" name="TextBox 3">
            <a:extLst>
              <a:ext uri="{FF2B5EF4-FFF2-40B4-BE49-F238E27FC236}">
                <a16:creationId xmlns:a16="http://schemas.microsoft.com/office/drawing/2014/main" id="{9E9907F6-9552-C3B3-488C-8C6F53E3A9BB}"/>
              </a:ext>
            </a:extLst>
          </p:cNvPr>
          <p:cNvSpPr txBox="1"/>
          <p:nvPr/>
        </p:nvSpPr>
        <p:spPr>
          <a:xfrm>
            <a:off x="120000" y="884900"/>
            <a:ext cx="11952000" cy="5724000"/>
          </a:xfrm>
          <a:prstGeom prst="roundRect">
            <a:avLst>
              <a:gd name="adj" fmla="val 1723"/>
            </a:avLst>
          </a:prstGeom>
          <a:noFill/>
          <a:ln>
            <a:solidFill>
              <a:srgbClr val="006666"/>
            </a:solidFill>
          </a:ln>
        </p:spPr>
        <p:txBody>
          <a:bodyPr wrap="square">
            <a:spAutoFit/>
          </a:bodyPr>
          <a:lstStyle/>
          <a:p>
            <a:pPr marL="6350" marR="3810" indent="-6350" algn="just">
              <a:lnSpc>
                <a:spcPct val="112000"/>
              </a:lnSpc>
              <a:spcAft>
                <a:spcPts val="850"/>
              </a:spcAft>
              <a:buNone/>
              <a:tabLst>
                <a:tab pos="1379220" algn="l"/>
              </a:tabLst>
            </a:pPr>
            <a:r>
              <a:rPr lang="en-IN" sz="1800" b="1" kern="100" dirty="0">
                <a:solidFill>
                  <a:srgbClr val="000000"/>
                </a:solidFill>
                <a:effectLst/>
                <a:latin typeface="Times New Roman" panose="02020603050405020304" pitchFamily="18" charset="0"/>
                <a:ea typeface="Times New Roman" panose="02020603050405020304" pitchFamily="18" charset="0"/>
              </a:rPr>
              <a:t>Which food delivery app do you use most frequently?</a:t>
            </a:r>
            <a:endParaRPr lang="en-IN" sz="1800" kern="100" dirty="0">
              <a:solidFill>
                <a:srgbClr val="000000"/>
              </a:solidFill>
              <a:effectLst/>
              <a:latin typeface="Times New Roman" panose="02020603050405020304" pitchFamily="18" charset="0"/>
              <a:ea typeface="Times New Roman" panose="02020603050405020304" pitchFamily="18" charset="0"/>
            </a:endParaRPr>
          </a:p>
        </p:txBody>
      </p:sp>
      <p:graphicFrame>
        <p:nvGraphicFramePr>
          <p:cNvPr id="5" name="Table 4">
            <a:extLst>
              <a:ext uri="{FF2B5EF4-FFF2-40B4-BE49-F238E27FC236}">
                <a16:creationId xmlns:a16="http://schemas.microsoft.com/office/drawing/2014/main" id="{D9B172F0-1BB1-A6F1-D884-D5F8532BD742}"/>
              </a:ext>
            </a:extLst>
          </p:cNvPr>
          <p:cNvGraphicFramePr>
            <a:graphicFrameLocks noGrp="1"/>
          </p:cNvGraphicFramePr>
          <p:nvPr>
            <p:extLst>
              <p:ext uri="{D42A27DB-BD31-4B8C-83A1-F6EECF244321}">
                <p14:modId xmlns:p14="http://schemas.microsoft.com/office/powerpoint/2010/main" val="588063748"/>
              </p:ext>
            </p:extLst>
          </p:nvPr>
        </p:nvGraphicFramePr>
        <p:xfrm>
          <a:off x="442452" y="1366684"/>
          <a:ext cx="4402945" cy="2325424"/>
        </p:xfrm>
        <a:graphic>
          <a:graphicData uri="http://schemas.openxmlformats.org/drawingml/2006/table">
            <a:tbl>
              <a:tblPr firstRow="1" firstCol="1" bandRow="1">
                <a:tableStyleId>{93296810-A885-4BE3-A3E7-6D5BEEA58F35}</a:tableStyleId>
              </a:tblPr>
              <a:tblGrid>
                <a:gridCol w="678425">
                  <a:extLst>
                    <a:ext uri="{9D8B030D-6E8A-4147-A177-3AD203B41FA5}">
                      <a16:colId xmlns:a16="http://schemas.microsoft.com/office/drawing/2014/main" val="3880613508"/>
                    </a:ext>
                  </a:extLst>
                </a:gridCol>
                <a:gridCol w="1410970">
                  <a:extLst>
                    <a:ext uri="{9D8B030D-6E8A-4147-A177-3AD203B41FA5}">
                      <a16:colId xmlns:a16="http://schemas.microsoft.com/office/drawing/2014/main" val="869864720"/>
                    </a:ext>
                  </a:extLst>
                </a:gridCol>
                <a:gridCol w="1044277">
                  <a:extLst>
                    <a:ext uri="{9D8B030D-6E8A-4147-A177-3AD203B41FA5}">
                      <a16:colId xmlns:a16="http://schemas.microsoft.com/office/drawing/2014/main" val="4029388711"/>
                    </a:ext>
                  </a:extLst>
                </a:gridCol>
                <a:gridCol w="1269273">
                  <a:extLst>
                    <a:ext uri="{9D8B030D-6E8A-4147-A177-3AD203B41FA5}">
                      <a16:colId xmlns:a16="http://schemas.microsoft.com/office/drawing/2014/main" val="3584654188"/>
                    </a:ext>
                  </a:extLst>
                </a:gridCol>
              </a:tblGrid>
              <a:tr h="537075">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Sr. No</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App Used</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Respondents</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Percentage</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278687"/>
                  </a:ext>
                </a:extLst>
              </a:tr>
              <a:tr h="346835">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Zomato</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43</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36.4%</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3102385"/>
                  </a:ext>
                </a:extLst>
              </a:tr>
              <a:tr h="346835">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Swiggy</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30</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25.4%</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6122725"/>
                  </a:ext>
                </a:extLst>
              </a:tr>
              <a:tr h="346835">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3</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Both Equally</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38</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32.2%</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4080580"/>
                  </a:ext>
                </a:extLst>
              </a:tr>
              <a:tr h="346835">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4</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Other</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7</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5.9%</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2465805"/>
                  </a:ext>
                </a:extLst>
              </a:tr>
              <a:tr h="346835">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 </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Total</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118</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100%</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9288092"/>
                  </a:ext>
                </a:extLst>
              </a:tr>
            </a:tbl>
          </a:graphicData>
        </a:graphic>
      </p:graphicFrame>
      <p:graphicFrame>
        <p:nvGraphicFramePr>
          <p:cNvPr id="6" name="Chart 5">
            <a:extLst>
              <a:ext uri="{FF2B5EF4-FFF2-40B4-BE49-F238E27FC236}">
                <a16:creationId xmlns:a16="http://schemas.microsoft.com/office/drawing/2014/main" id="{C9A31DFC-F48E-1C85-A4E3-E08BEBAAF325}"/>
              </a:ext>
            </a:extLst>
          </p:cNvPr>
          <p:cNvGraphicFramePr/>
          <p:nvPr>
            <p:extLst>
              <p:ext uri="{D42A27DB-BD31-4B8C-83A1-F6EECF244321}">
                <p14:modId xmlns:p14="http://schemas.microsoft.com/office/powerpoint/2010/main" val="3325296186"/>
              </p:ext>
            </p:extLst>
          </p:nvPr>
        </p:nvGraphicFramePr>
        <p:xfrm>
          <a:off x="5928851" y="1027566"/>
          <a:ext cx="5997678" cy="2664542"/>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BF5AB92B-15F6-EE8A-2CCD-EDF8AE4D8CDD}"/>
              </a:ext>
            </a:extLst>
          </p:cNvPr>
          <p:cNvSpPr txBox="1"/>
          <p:nvPr/>
        </p:nvSpPr>
        <p:spPr>
          <a:xfrm>
            <a:off x="334297" y="4076599"/>
            <a:ext cx="11523406" cy="2247424"/>
          </a:xfrm>
          <a:prstGeom prst="round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Data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Zomato leads usage (36.4%), followed by both apps (32.2%) and Swiggy (25.4%), indicating multi-app usage and moderate competition.</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Data Interpretation: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Low platform loyalty and high price sensitivity are evident, suggesting the need for better personalization, offers, and user experience to retain customers.</a:t>
            </a:r>
          </a:p>
        </p:txBody>
      </p:sp>
    </p:spTree>
    <p:extLst>
      <p:ext uri="{BB962C8B-B14F-4D97-AF65-F5344CB8AC3E}">
        <p14:creationId xmlns:p14="http://schemas.microsoft.com/office/powerpoint/2010/main" val="2556565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16FBB-1432-F10F-113C-79078D89AAE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3ED948-910B-9791-4CB1-542EFB211C2A}"/>
              </a:ext>
            </a:extLst>
          </p:cNvPr>
          <p:cNvSpPr/>
          <p:nvPr/>
        </p:nvSpPr>
        <p:spPr>
          <a:xfrm>
            <a:off x="0" y="1"/>
            <a:ext cx="12192000" cy="806244"/>
          </a:xfrm>
          <a:prstGeom prst="rect">
            <a:avLst/>
          </a:prstGeom>
          <a:solidFill>
            <a:srgbClr val="E23744"/>
          </a:solidFill>
          <a:ln>
            <a:solidFill>
              <a:srgbClr val="E237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Results </a:t>
            </a:r>
            <a:endParaRPr lang="en-IN" i="1" dirty="0">
              <a:ln>
                <a:solidFill>
                  <a:schemeClr val="accent3">
                    <a:lumMod val="20000"/>
                    <a:lumOff val="80000"/>
                  </a:schemeClr>
                </a:solidFill>
              </a:ln>
              <a:latin typeface="Algerian" panose="04020705040A02060702" pitchFamily="82" charset="0"/>
            </a:endParaRPr>
          </a:p>
        </p:txBody>
      </p:sp>
      <p:sp>
        <p:nvSpPr>
          <p:cNvPr id="4" name="TextBox 3">
            <a:extLst>
              <a:ext uri="{FF2B5EF4-FFF2-40B4-BE49-F238E27FC236}">
                <a16:creationId xmlns:a16="http://schemas.microsoft.com/office/drawing/2014/main" id="{D580123B-7EE1-024F-2603-C53DFB6DE763}"/>
              </a:ext>
            </a:extLst>
          </p:cNvPr>
          <p:cNvSpPr txBox="1"/>
          <p:nvPr/>
        </p:nvSpPr>
        <p:spPr>
          <a:xfrm>
            <a:off x="120000" y="963557"/>
            <a:ext cx="11952000" cy="5760000"/>
          </a:xfrm>
          <a:prstGeom prst="roundRect">
            <a:avLst>
              <a:gd name="adj" fmla="val 3265"/>
            </a:avLst>
          </a:prstGeom>
          <a:noFill/>
          <a:ln>
            <a:solidFill>
              <a:srgbClr val="006666"/>
            </a:solidFill>
          </a:ln>
        </p:spPr>
        <p:txBody>
          <a:bodyPr wrap="square">
            <a:spAutoFit/>
          </a:bodyPr>
          <a:lstStyle/>
          <a:p>
            <a:pPr algn="just"/>
            <a:r>
              <a:rPr lang="en-IN" b="1" dirty="0">
                <a:latin typeface="Times New Roman" panose="02020603050405020304" pitchFamily="18" charset="0"/>
                <a:cs typeface="Times New Roman" panose="02020603050405020304" pitchFamily="18" charset="0"/>
              </a:rPr>
              <a:t>What is the main reason for using food delivery apps?</a:t>
            </a:r>
            <a:endParaRPr lang="en-IN"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B4947069-F963-C349-6681-942894E3F350}"/>
              </a:ext>
            </a:extLst>
          </p:cNvPr>
          <p:cNvGraphicFramePr>
            <a:graphicFrameLocks noGrp="1"/>
          </p:cNvGraphicFramePr>
          <p:nvPr>
            <p:extLst>
              <p:ext uri="{D42A27DB-BD31-4B8C-83A1-F6EECF244321}">
                <p14:modId xmlns:p14="http://schemas.microsoft.com/office/powerpoint/2010/main" val="3725945875"/>
              </p:ext>
            </p:extLst>
          </p:nvPr>
        </p:nvGraphicFramePr>
        <p:xfrm>
          <a:off x="147484" y="1661651"/>
          <a:ext cx="4990611" cy="2318642"/>
        </p:xfrm>
        <a:graphic>
          <a:graphicData uri="http://schemas.openxmlformats.org/drawingml/2006/table">
            <a:tbl>
              <a:tblPr firstRow="1" firstCol="1" bandRow="1">
                <a:tableStyleId>{93296810-A885-4BE3-A3E7-6D5BEEA58F35}</a:tableStyleId>
              </a:tblPr>
              <a:tblGrid>
                <a:gridCol w="522362">
                  <a:extLst>
                    <a:ext uri="{9D8B030D-6E8A-4147-A177-3AD203B41FA5}">
                      <a16:colId xmlns:a16="http://schemas.microsoft.com/office/drawing/2014/main" val="1319620693"/>
                    </a:ext>
                  </a:extLst>
                </a:gridCol>
                <a:gridCol w="1716999">
                  <a:extLst>
                    <a:ext uri="{9D8B030D-6E8A-4147-A177-3AD203B41FA5}">
                      <a16:colId xmlns:a16="http://schemas.microsoft.com/office/drawing/2014/main" val="3081198327"/>
                    </a:ext>
                  </a:extLst>
                </a:gridCol>
                <a:gridCol w="1442720">
                  <a:extLst>
                    <a:ext uri="{9D8B030D-6E8A-4147-A177-3AD203B41FA5}">
                      <a16:colId xmlns:a16="http://schemas.microsoft.com/office/drawing/2014/main" val="1077021127"/>
                    </a:ext>
                  </a:extLst>
                </a:gridCol>
                <a:gridCol w="1308530">
                  <a:extLst>
                    <a:ext uri="{9D8B030D-6E8A-4147-A177-3AD203B41FA5}">
                      <a16:colId xmlns:a16="http://schemas.microsoft.com/office/drawing/2014/main" val="3795609657"/>
                    </a:ext>
                  </a:extLst>
                </a:gridCol>
              </a:tblGrid>
              <a:tr h="564122">
                <a:tc>
                  <a:txBody>
                    <a:bodyPr/>
                    <a:lstStyle/>
                    <a:p>
                      <a:pPr marL="6350" marR="3810" indent="-6350" algn="ctr">
                        <a:lnSpc>
                          <a:spcPct val="112000"/>
                        </a:lnSpc>
                        <a:spcAft>
                          <a:spcPts val="850"/>
                        </a:spcAft>
                        <a:buNone/>
                        <a:tabLst>
                          <a:tab pos="1379220" algn="l"/>
                        </a:tabLst>
                      </a:pPr>
                      <a:r>
                        <a:rPr lang="en-IN" sz="1800" b="1" kern="100" dirty="0">
                          <a:effectLst/>
                          <a:latin typeface="Times New Roman" panose="02020603050405020304" pitchFamily="18" charset="0"/>
                          <a:cs typeface="Times New Roman" panose="02020603050405020304" pitchFamily="18" charset="0"/>
                        </a:rPr>
                        <a:t>Sr. No</a:t>
                      </a:r>
                      <a:endPar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b="1" kern="100" dirty="0">
                          <a:effectLst/>
                          <a:latin typeface="Times New Roman" panose="02020603050405020304" pitchFamily="18" charset="0"/>
                          <a:cs typeface="Times New Roman" panose="02020603050405020304" pitchFamily="18" charset="0"/>
                        </a:rPr>
                        <a:t>Reason</a:t>
                      </a:r>
                      <a:endPar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b="1" kern="100" dirty="0">
                          <a:effectLst/>
                          <a:latin typeface="Times New Roman" panose="02020603050405020304" pitchFamily="18" charset="0"/>
                          <a:cs typeface="Times New Roman" panose="02020603050405020304" pitchFamily="18" charset="0"/>
                        </a:rPr>
                        <a:t>Respondents</a:t>
                      </a:r>
                      <a:endPar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b="1" kern="100" dirty="0">
                          <a:effectLst/>
                          <a:latin typeface="Times New Roman" panose="02020603050405020304" pitchFamily="18" charset="0"/>
                          <a:cs typeface="Times New Roman" panose="02020603050405020304" pitchFamily="18" charset="0"/>
                        </a:rPr>
                        <a:t>Percentage</a:t>
                      </a:r>
                      <a:endPar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7031572"/>
                  </a:ext>
                </a:extLst>
              </a:tr>
              <a:tr h="27100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Convenience</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19</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16.1%</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7393185"/>
                  </a:ext>
                </a:extLst>
              </a:tr>
              <a:tr h="27100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Variety of Food</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24</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20.3%</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1196254"/>
                  </a:ext>
                </a:extLst>
              </a:tr>
              <a:tr h="564122">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3</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Discounts &amp; Offers</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55</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46.6%</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251906"/>
                  </a:ext>
                </a:extLst>
              </a:tr>
              <a:tr h="27100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4</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Time Saving</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20</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16.9%</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6919698"/>
                  </a:ext>
                </a:extLst>
              </a:tr>
              <a:tr h="27100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 </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Total</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118</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100%</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725713"/>
                  </a:ext>
                </a:extLst>
              </a:tr>
            </a:tbl>
          </a:graphicData>
        </a:graphic>
      </p:graphicFrame>
      <p:graphicFrame>
        <p:nvGraphicFramePr>
          <p:cNvPr id="8" name="Chart 7">
            <a:extLst>
              <a:ext uri="{FF2B5EF4-FFF2-40B4-BE49-F238E27FC236}">
                <a16:creationId xmlns:a16="http://schemas.microsoft.com/office/drawing/2014/main" id="{755F49B6-B76B-A76D-7435-2ADEC9DF4395}"/>
              </a:ext>
            </a:extLst>
          </p:cNvPr>
          <p:cNvGraphicFramePr/>
          <p:nvPr>
            <p:extLst>
              <p:ext uri="{D42A27DB-BD31-4B8C-83A1-F6EECF244321}">
                <p14:modId xmlns:p14="http://schemas.microsoft.com/office/powerpoint/2010/main" val="1641744134"/>
              </p:ext>
            </p:extLst>
          </p:nvPr>
        </p:nvGraphicFramePr>
        <p:xfrm>
          <a:off x="5230761" y="1563329"/>
          <a:ext cx="6735098" cy="2410924"/>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D83375EB-97BE-5E5A-C6AB-C68C322DE365}"/>
              </a:ext>
            </a:extLst>
          </p:cNvPr>
          <p:cNvSpPr txBox="1"/>
          <p:nvPr/>
        </p:nvSpPr>
        <p:spPr>
          <a:xfrm>
            <a:off x="218768" y="4140509"/>
            <a:ext cx="11678264" cy="2031325"/>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Data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Discounts and offers dominate usage (46.6%), followed by variety (20.3%), while convenience (16.1%) and time saving (16.9%) have lower influence.</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Data Interpretation: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Users are primarily driven by pricing incentives, showing that discounts are more influential than convenience or variety in attracting and retaining customers.</a:t>
            </a:r>
          </a:p>
        </p:txBody>
      </p:sp>
    </p:spTree>
    <p:extLst>
      <p:ext uri="{BB962C8B-B14F-4D97-AF65-F5344CB8AC3E}">
        <p14:creationId xmlns:p14="http://schemas.microsoft.com/office/powerpoint/2010/main" val="1574429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A6589-FDA6-5C92-4C44-9A5AB3D315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8704A22-1AB8-BB60-C54B-BF4FECB2C34B}"/>
              </a:ext>
            </a:extLst>
          </p:cNvPr>
          <p:cNvSpPr/>
          <p:nvPr/>
        </p:nvSpPr>
        <p:spPr>
          <a:xfrm>
            <a:off x="0" y="1"/>
            <a:ext cx="12192000" cy="806244"/>
          </a:xfrm>
          <a:prstGeom prst="rect">
            <a:avLst/>
          </a:prstGeom>
          <a:solidFill>
            <a:srgbClr val="FC8019"/>
          </a:solidFill>
          <a:ln>
            <a:solidFill>
              <a:srgbClr val="E237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Results </a:t>
            </a:r>
            <a:endParaRPr lang="en-IN" i="1" dirty="0">
              <a:ln>
                <a:solidFill>
                  <a:schemeClr val="accent3">
                    <a:lumMod val="20000"/>
                    <a:lumOff val="80000"/>
                  </a:schemeClr>
                </a:solidFill>
              </a:ln>
              <a:latin typeface="Algerian" panose="04020705040A02060702" pitchFamily="82" charset="0"/>
            </a:endParaRPr>
          </a:p>
        </p:txBody>
      </p:sp>
      <p:sp>
        <p:nvSpPr>
          <p:cNvPr id="4" name="TextBox 3">
            <a:extLst>
              <a:ext uri="{FF2B5EF4-FFF2-40B4-BE49-F238E27FC236}">
                <a16:creationId xmlns:a16="http://schemas.microsoft.com/office/drawing/2014/main" id="{430D24F5-FBA3-787E-2B53-9DD04038AC81}"/>
              </a:ext>
            </a:extLst>
          </p:cNvPr>
          <p:cNvSpPr txBox="1"/>
          <p:nvPr/>
        </p:nvSpPr>
        <p:spPr>
          <a:xfrm>
            <a:off x="120000" y="884900"/>
            <a:ext cx="11952000" cy="5832000"/>
          </a:xfrm>
          <a:prstGeom prst="roundRect">
            <a:avLst>
              <a:gd name="adj" fmla="val 3265"/>
            </a:avLst>
          </a:prstGeom>
          <a:noFill/>
          <a:ln>
            <a:solidFill>
              <a:srgbClr val="006666"/>
            </a:solidFill>
          </a:ln>
        </p:spPr>
        <p:txBody>
          <a:bodyPr wrap="square">
            <a:spAutoFit/>
          </a:bodyPr>
          <a:lstStyle/>
          <a:p>
            <a:r>
              <a:rPr lang="en-IN" b="1" dirty="0">
                <a:latin typeface="Times New Roman" panose="02020603050405020304" pitchFamily="18" charset="0"/>
                <a:cs typeface="Times New Roman" panose="02020603050405020304" pitchFamily="18" charset="0"/>
              </a:rPr>
              <a:t>How often do you purchase add-on items (desserts, beverages, side dishes) when ordering food online?</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02FAC0D-2804-5150-3717-373B824F0D57}"/>
              </a:ext>
            </a:extLst>
          </p:cNvPr>
          <p:cNvGraphicFramePr>
            <a:graphicFrameLocks noGrp="1"/>
          </p:cNvGraphicFramePr>
          <p:nvPr>
            <p:extLst>
              <p:ext uri="{D42A27DB-BD31-4B8C-83A1-F6EECF244321}">
                <p14:modId xmlns:p14="http://schemas.microsoft.com/office/powerpoint/2010/main" val="4030301769"/>
              </p:ext>
            </p:extLst>
          </p:nvPr>
        </p:nvGraphicFramePr>
        <p:xfrm>
          <a:off x="285135" y="1493775"/>
          <a:ext cx="4650658" cy="2333011"/>
        </p:xfrm>
        <a:graphic>
          <a:graphicData uri="http://schemas.openxmlformats.org/drawingml/2006/table">
            <a:tbl>
              <a:tblPr firstRow="1" firstCol="1" bandRow="1">
                <a:tableStyleId>{93296810-A885-4BE3-A3E7-6D5BEEA58F35}</a:tableStyleId>
              </a:tblPr>
              <a:tblGrid>
                <a:gridCol w="582364">
                  <a:extLst>
                    <a:ext uri="{9D8B030D-6E8A-4147-A177-3AD203B41FA5}">
                      <a16:colId xmlns:a16="http://schemas.microsoft.com/office/drawing/2014/main" val="3950813657"/>
                    </a:ext>
                  </a:extLst>
                </a:gridCol>
                <a:gridCol w="1608851">
                  <a:extLst>
                    <a:ext uri="{9D8B030D-6E8A-4147-A177-3AD203B41FA5}">
                      <a16:colId xmlns:a16="http://schemas.microsoft.com/office/drawing/2014/main" val="1820124077"/>
                    </a:ext>
                  </a:extLst>
                </a:gridCol>
                <a:gridCol w="1233332">
                  <a:extLst>
                    <a:ext uri="{9D8B030D-6E8A-4147-A177-3AD203B41FA5}">
                      <a16:colId xmlns:a16="http://schemas.microsoft.com/office/drawing/2014/main" val="3189838895"/>
                    </a:ext>
                  </a:extLst>
                </a:gridCol>
                <a:gridCol w="1226111">
                  <a:extLst>
                    <a:ext uri="{9D8B030D-6E8A-4147-A177-3AD203B41FA5}">
                      <a16:colId xmlns:a16="http://schemas.microsoft.com/office/drawing/2014/main" val="1107237798"/>
                    </a:ext>
                  </a:extLst>
                </a:gridCol>
              </a:tblGrid>
              <a:tr h="559713">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Sr. No</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Response</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Respondents</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Percentage (%)</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8038547"/>
                  </a:ext>
                </a:extLst>
              </a:tr>
              <a:tr h="288028">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Always</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25</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21.2%</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3070251"/>
                  </a:ext>
                </a:extLst>
              </a:tr>
              <a:tr h="288028">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Often</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22</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18.6%</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8178227"/>
                  </a:ext>
                </a:extLst>
              </a:tr>
              <a:tr h="301622">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3</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Sometimes</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20</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16.7%</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829313"/>
                  </a:ext>
                </a:extLst>
              </a:tr>
              <a:tr h="288028">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4</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Rarely</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40</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33.9%</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6702206"/>
                  </a:ext>
                </a:extLst>
              </a:tr>
              <a:tr h="288028">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5</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Never</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12</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10.2%</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535432"/>
                  </a:ext>
                </a:extLst>
              </a:tr>
              <a:tr h="288028">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 </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Total</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118</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100%</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147910"/>
                  </a:ext>
                </a:extLst>
              </a:tr>
            </a:tbl>
          </a:graphicData>
        </a:graphic>
      </p:graphicFrame>
      <p:graphicFrame>
        <p:nvGraphicFramePr>
          <p:cNvPr id="5" name="Chart 4">
            <a:extLst>
              <a:ext uri="{FF2B5EF4-FFF2-40B4-BE49-F238E27FC236}">
                <a16:creationId xmlns:a16="http://schemas.microsoft.com/office/drawing/2014/main" id="{768D8DD7-C37D-AB81-A97A-AD026B94F0E8}"/>
              </a:ext>
            </a:extLst>
          </p:cNvPr>
          <p:cNvGraphicFramePr/>
          <p:nvPr>
            <p:extLst>
              <p:ext uri="{D42A27DB-BD31-4B8C-83A1-F6EECF244321}">
                <p14:modId xmlns:p14="http://schemas.microsoft.com/office/powerpoint/2010/main" val="2667862090"/>
              </p:ext>
            </p:extLst>
          </p:nvPr>
        </p:nvGraphicFramePr>
        <p:xfrm>
          <a:off x="5299587" y="1415117"/>
          <a:ext cx="6607278"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9A9747FE-A075-22CE-FAB0-B2ECE6F0B36B}"/>
              </a:ext>
            </a:extLst>
          </p:cNvPr>
          <p:cNvSpPr txBox="1"/>
          <p:nvPr/>
        </p:nvSpPr>
        <p:spPr>
          <a:xfrm>
            <a:off x="285135" y="4017605"/>
            <a:ext cx="11621730" cy="2031325"/>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Data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Most users rarely purchase add-ons (33.9%), while fewer always (21.2%) or often (18.6%) do, indicating low overall frequency.</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Data Interpretation: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Add-on purchases are limited and require stronger incentives like bundling and personalized recommendations to improve conversions and order value.</a:t>
            </a:r>
          </a:p>
        </p:txBody>
      </p:sp>
    </p:spTree>
    <p:extLst>
      <p:ext uri="{BB962C8B-B14F-4D97-AF65-F5344CB8AC3E}">
        <p14:creationId xmlns:p14="http://schemas.microsoft.com/office/powerpoint/2010/main" val="917794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B33D9-AA4A-AE15-FBB6-6682B81562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4AA281-905B-8B85-E103-5604A318D2E2}"/>
              </a:ext>
            </a:extLst>
          </p:cNvPr>
          <p:cNvSpPr/>
          <p:nvPr/>
        </p:nvSpPr>
        <p:spPr>
          <a:xfrm>
            <a:off x="0" y="1"/>
            <a:ext cx="12192000" cy="806244"/>
          </a:xfrm>
          <a:prstGeom prst="rect">
            <a:avLst/>
          </a:prstGeom>
          <a:solidFill>
            <a:srgbClr val="E23744"/>
          </a:solidFill>
          <a:ln>
            <a:solidFill>
              <a:srgbClr val="E237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Results </a:t>
            </a:r>
            <a:endParaRPr lang="en-IN" i="1" dirty="0">
              <a:ln>
                <a:solidFill>
                  <a:schemeClr val="accent3">
                    <a:lumMod val="20000"/>
                    <a:lumOff val="80000"/>
                  </a:schemeClr>
                </a:solidFill>
              </a:ln>
              <a:latin typeface="Algerian" panose="04020705040A02060702" pitchFamily="82" charset="0"/>
            </a:endParaRPr>
          </a:p>
        </p:txBody>
      </p:sp>
      <p:sp>
        <p:nvSpPr>
          <p:cNvPr id="4" name="TextBox 3">
            <a:extLst>
              <a:ext uri="{FF2B5EF4-FFF2-40B4-BE49-F238E27FC236}">
                <a16:creationId xmlns:a16="http://schemas.microsoft.com/office/drawing/2014/main" id="{29BDA49B-66D0-779C-3960-8FAB0C3240DD}"/>
              </a:ext>
            </a:extLst>
          </p:cNvPr>
          <p:cNvSpPr txBox="1"/>
          <p:nvPr/>
        </p:nvSpPr>
        <p:spPr>
          <a:xfrm>
            <a:off x="120000" y="884900"/>
            <a:ext cx="11952000" cy="5832000"/>
          </a:xfrm>
          <a:prstGeom prst="roundRect">
            <a:avLst>
              <a:gd name="adj" fmla="val 2842"/>
            </a:avLst>
          </a:prstGeom>
          <a:noFill/>
          <a:ln>
            <a:solidFill>
              <a:srgbClr val="006666"/>
            </a:solidFill>
          </a:ln>
        </p:spPr>
        <p:txBody>
          <a:bodyPr wrap="square">
            <a:spAutoFit/>
          </a:bodyPr>
          <a:lstStyle/>
          <a:p>
            <a:r>
              <a:rPr lang="en-IN" b="1" dirty="0">
                <a:latin typeface="Times New Roman" panose="02020603050405020304" pitchFamily="18" charset="0"/>
                <a:cs typeface="Times New Roman" panose="02020603050405020304" pitchFamily="18" charset="0"/>
              </a:rPr>
              <a:t>What motivates you to buy add-on items?</a:t>
            </a:r>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3BC2DD9-9B7C-9EAB-71EA-2E86792AD3EB}"/>
              </a:ext>
            </a:extLst>
          </p:cNvPr>
          <p:cNvGraphicFramePr>
            <a:graphicFrameLocks noGrp="1"/>
          </p:cNvGraphicFramePr>
          <p:nvPr>
            <p:extLst>
              <p:ext uri="{D42A27DB-BD31-4B8C-83A1-F6EECF244321}">
                <p14:modId xmlns:p14="http://schemas.microsoft.com/office/powerpoint/2010/main" val="2738189589"/>
              </p:ext>
            </p:extLst>
          </p:nvPr>
        </p:nvGraphicFramePr>
        <p:xfrm>
          <a:off x="206476" y="1336460"/>
          <a:ext cx="5085291" cy="2933068"/>
        </p:xfrm>
        <a:graphic>
          <a:graphicData uri="http://schemas.openxmlformats.org/drawingml/2006/table">
            <a:tbl>
              <a:tblPr firstRow="1" firstCol="1" bandRow="1">
                <a:tableStyleId>{93296810-A885-4BE3-A3E7-6D5BEEA58F35}</a:tableStyleId>
              </a:tblPr>
              <a:tblGrid>
                <a:gridCol w="636789">
                  <a:extLst>
                    <a:ext uri="{9D8B030D-6E8A-4147-A177-3AD203B41FA5}">
                      <a16:colId xmlns:a16="http://schemas.microsoft.com/office/drawing/2014/main" val="3320850220"/>
                    </a:ext>
                  </a:extLst>
                </a:gridCol>
                <a:gridCol w="1759208">
                  <a:extLst>
                    <a:ext uri="{9D8B030D-6E8A-4147-A177-3AD203B41FA5}">
                      <a16:colId xmlns:a16="http://schemas.microsoft.com/office/drawing/2014/main" val="2903204616"/>
                    </a:ext>
                  </a:extLst>
                </a:gridCol>
                <a:gridCol w="1348596">
                  <a:extLst>
                    <a:ext uri="{9D8B030D-6E8A-4147-A177-3AD203B41FA5}">
                      <a16:colId xmlns:a16="http://schemas.microsoft.com/office/drawing/2014/main" val="871012194"/>
                    </a:ext>
                  </a:extLst>
                </a:gridCol>
                <a:gridCol w="1340698">
                  <a:extLst>
                    <a:ext uri="{9D8B030D-6E8A-4147-A177-3AD203B41FA5}">
                      <a16:colId xmlns:a16="http://schemas.microsoft.com/office/drawing/2014/main" val="2883206060"/>
                    </a:ext>
                  </a:extLst>
                </a:gridCol>
              </a:tblGrid>
              <a:tr h="559068">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Sr. No</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Factor</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Respondents</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Percentage (%)</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3536199"/>
                  </a:ext>
                </a:extLst>
              </a:tr>
              <a:tr h="268576">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Discount offers</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29</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24.6%</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9142489"/>
                  </a:ext>
                </a:extLst>
              </a:tr>
              <a:tr h="849560">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2</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App recommendations</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20</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16.9%</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3643270"/>
                  </a:ext>
                </a:extLst>
              </a:tr>
              <a:tr h="268576">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3</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Combo deals</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42</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35.6%</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7152671"/>
                  </a:ext>
                </a:extLst>
              </a:tr>
              <a:tr h="559068">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4</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Personal preference</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30</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25.4%</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9370454"/>
                  </a:ext>
                </a:extLst>
              </a:tr>
              <a:tr h="268576">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 </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Total</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118</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100%</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4099393"/>
                  </a:ext>
                </a:extLst>
              </a:tr>
            </a:tbl>
          </a:graphicData>
        </a:graphic>
      </p:graphicFrame>
      <p:graphicFrame>
        <p:nvGraphicFramePr>
          <p:cNvPr id="7" name="Chart 6">
            <a:extLst>
              <a:ext uri="{FF2B5EF4-FFF2-40B4-BE49-F238E27FC236}">
                <a16:creationId xmlns:a16="http://schemas.microsoft.com/office/drawing/2014/main" id="{6A54D6BD-8FAA-D7E3-E60C-8CD365FB0B1B}"/>
              </a:ext>
            </a:extLst>
          </p:cNvPr>
          <p:cNvGraphicFramePr/>
          <p:nvPr>
            <p:extLst>
              <p:ext uri="{D42A27DB-BD31-4B8C-83A1-F6EECF244321}">
                <p14:modId xmlns:p14="http://schemas.microsoft.com/office/powerpoint/2010/main" val="2462361821"/>
              </p:ext>
            </p:extLst>
          </p:nvPr>
        </p:nvGraphicFramePr>
        <p:xfrm>
          <a:off x="5447072" y="1336460"/>
          <a:ext cx="6538452" cy="2933068"/>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9951ABC1-05C6-D871-3261-F0BB7A459E50}"/>
              </a:ext>
            </a:extLst>
          </p:cNvPr>
          <p:cNvSpPr txBox="1"/>
          <p:nvPr/>
        </p:nvSpPr>
        <p:spPr>
          <a:xfrm>
            <a:off x="206476" y="4408576"/>
            <a:ext cx="11680724" cy="208800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Data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Combo deals lead as the main motivator (35.6%), followed by personal preference (25.4%) and discounts (24.6%), while app recommendations are least influential (16.9%).</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Data Interpretation: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Customers are mainly driven by value-based incentives like combos and discounts, indicating bundling is more effective than current recommendation systems.</a:t>
            </a:r>
          </a:p>
          <a:p>
            <a:endParaRPr lang="en-IN" dirty="0"/>
          </a:p>
        </p:txBody>
      </p:sp>
    </p:spTree>
    <p:extLst>
      <p:ext uri="{BB962C8B-B14F-4D97-AF65-F5344CB8AC3E}">
        <p14:creationId xmlns:p14="http://schemas.microsoft.com/office/powerpoint/2010/main" val="6088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77F57-9810-CC11-1994-39CB2A9DFF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CCCFF90-833F-AAA0-4C5A-DEA59B915143}"/>
              </a:ext>
            </a:extLst>
          </p:cNvPr>
          <p:cNvSpPr/>
          <p:nvPr/>
        </p:nvSpPr>
        <p:spPr>
          <a:xfrm>
            <a:off x="0" y="1"/>
            <a:ext cx="12192000" cy="806244"/>
          </a:xfrm>
          <a:prstGeom prst="rect">
            <a:avLst/>
          </a:prstGeom>
          <a:solidFill>
            <a:srgbClr val="FC8019"/>
          </a:solidFill>
          <a:ln>
            <a:solidFill>
              <a:srgbClr val="E237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Results </a:t>
            </a:r>
            <a:endParaRPr lang="en-IN" i="1" dirty="0">
              <a:ln>
                <a:solidFill>
                  <a:schemeClr val="accent3">
                    <a:lumMod val="20000"/>
                    <a:lumOff val="80000"/>
                  </a:schemeClr>
                </a:solidFill>
              </a:ln>
              <a:latin typeface="Algerian" panose="04020705040A02060702" pitchFamily="82" charset="0"/>
            </a:endParaRPr>
          </a:p>
        </p:txBody>
      </p:sp>
      <p:sp>
        <p:nvSpPr>
          <p:cNvPr id="4" name="TextBox 3">
            <a:extLst>
              <a:ext uri="{FF2B5EF4-FFF2-40B4-BE49-F238E27FC236}">
                <a16:creationId xmlns:a16="http://schemas.microsoft.com/office/drawing/2014/main" id="{1E69AE7F-5110-D05D-73A5-CA09E4C98A36}"/>
              </a:ext>
            </a:extLst>
          </p:cNvPr>
          <p:cNvSpPr txBox="1"/>
          <p:nvPr/>
        </p:nvSpPr>
        <p:spPr>
          <a:xfrm>
            <a:off x="120000" y="914395"/>
            <a:ext cx="11952000" cy="5760000"/>
          </a:xfrm>
          <a:prstGeom prst="roundRect">
            <a:avLst>
              <a:gd name="adj" fmla="val 2158"/>
            </a:avLst>
          </a:prstGeom>
          <a:noFill/>
          <a:ln>
            <a:solidFill>
              <a:srgbClr val="006666"/>
            </a:solidFill>
          </a:ln>
        </p:spPr>
        <p:txBody>
          <a:bodyPr wrap="square">
            <a:spAutoFit/>
          </a:bodyPr>
          <a:lstStyle/>
          <a:p>
            <a:r>
              <a:rPr lang="en-IN" b="1" dirty="0">
                <a:latin typeface="Times New Roman" panose="02020603050405020304" pitchFamily="18" charset="0"/>
                <a:cs typeface="Times New Roman" panose="02020603050405020304" pitchFamily="18" charset="0"/>
              </a:rPr>
              <a:t>Overall, personalization features influence my add-on buying behaviour.</a:t>
            </a:r>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0DF1B255-3617-C2E9-0D96-FEADEACB5153}"/>
              </a:ext>
            </a:extLst>
          </p:cNvPr>
          <p:cNvGraphicFramePr>
            <a:graphicFrameLocks noGrp="1"/>
          </p:cNvGraphicFramePr>
          <p:nvPr>
            <p:extLst>
              <p:ext uri="{D42A27DB-BD31-4B8C-83A1-F6EECF244321}">
                <p14:modId xmlns:p14="http://schemas.microsoft.com/office/powerpoint/2010/main" val="4217958607"/>
              </p:ext>
            </p:extLst>
          </p:nvPr>
        </p:nvGraphicFramePr>
        <p:xfrm>
          <a:off x="363793" y="1431172"/>
          <a:ext cx="5201265" cy="2295465"/>
        </p:xfrm>
        <a:graphic>
          <a:graphicData uri="http://schemas.openxmlformats.org/drawingml/2006/table">
            <a:tbl>
              <a:tblPr firstRow="1" firstCol="1" bandRow="1">
                <a:tableStyleId>{93296810-A885-4BE3-A3E7-6D5BEEA58F35}</a:tableStyleId>
              </a:tblPr>
              <a:tblGrid>
                <a:gridCol w="651312">
                  <a:extLst>
                    <a:ext uri="{9D8B030D-6E8A-4147-A177-3AD203B41FA5}">
                      <a16:colId xmlns:a16="http://schemas.microsoft.com/office/drawing/2014/main" val="2914786624"/>
                    </a:ext>
                  </a:extLst>
                </a:gridCol>
                <a:gridCol w="1799329">
                  <a:extLst>
                    <a:ext uri="{9D8B030D-6E8A-4147-A177-3AD203B41FA5}">
                      <a16:colId xmlns:a16="http://schemas.microsoft.com/office/drawing/2014/main" val="3553907047"/>
                    </a:ext>
                  </a:extLst>
                </a:gridCol>
                <a:gridCol w="1379350">
                  <a:extLst>
                    <a:ext uri="{9D8B030D-6E8A-4147-A177-3AD203B41FA5}">
                      <a16:colId xmlns:a16="http://schemas.microsoft.com/office/drawing/2014/main" val="3431989735"/>
                    </a:ext>
                  </a:extLst>
                </a:gridCol>
                <a:gridCol w="1371274">
                  <a:extLst>
                    <a:ext uri="{9D8B030D-6E8A-4147-A177-3AD203B41FA5}">
                      <a16:colId xmlns:a16="http://schemas.microsoft.com/office/drawing/2014/main" val="1769874915"/>
                    </a:ext>
                  </a:extLst>
                </a:gridCol>
              </a:tblGrid>
              <a:tr h="370865">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Sr. No</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Response</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Respondents</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Percentage (%)</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528683"/>
                  </a:ext>
                </a:extLst>
              </a:tr>
              <a:tr h="17816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Strongly Disagree</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11</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9.3%</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8892657"/>
                  </a:ext>
                </a:extLst>
              </a:tr>
              <a:tr h="17816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Disagree</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8</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6.8%</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628377"/>
                  </a:ext>
                </a:extLst>
              </a:tr>
              <a:tr h="17816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3</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Neutral</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15</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12.7%</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3663316"/>
                  </a:ext>
                </a:extLst>
              </a:tr>
              <a:tr h="17816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4</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Agree</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31</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26.3%</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266603"/>
                  </a:ext>
                </a:extLst>
              </a:tr>
              <a:tr h="17816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5</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just">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Strongly Agree</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53</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44.9%</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760180"/>
                  </a:ext>
                </a:extLst>
              </a:tr>
              <a:tr h="178164">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 </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a:effectLst/>
                          <a:latin typeface="Times New Roman" panose="02020603050405020304" pitchFamily="18" charset="0"/>
                          <a:cs typeface="Times New Roman" panose="02020603050405020304" pitchFamily="18" charset="0"/>
                        </a:rPr>
                        <a:t>Total</a:t>
                      </a:r>
                      <a:endParaRPr lang="en-IN" sz="18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118</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3810" indent="-6350" algn="ctr">
                        <a:lnSpc>
                          <a:spcPct val="112000"/>
                        </a:lnSpc>
                        <a:spcAft>
                          <a:spcPts val="850"/>
                        </a:spcAft>
                        <a:buNone/>
                        <a:tabLst>
                          <a:tab pos="1379220" algn="l"/>
                        </a:tabLst>
                      </a:pPr>
                      <a:r>
                        <a:rPr lang="en-IN" sz="1800" kern="100" dirty="0">
                          <a:effectLst/>
                          <a:latin typeface="Times New Roman" panose="02020603050405020304" pitchFamily="18" charset="0"/>
                          <a:cs typeface="Times New Roman" panose="02020603050405020304" pitchFamily="18" charset="0"/>
                        </a:rPr>
                        <a:t>100%</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5508638"/>
                  </a:ext>
                </a:extLst>
              </a:tr>
            </a:tbl>
          </a:graphicData>
        </a:graphic>
      </p:graphicFrame>
      <p:graphicFrame>
        <p:nvGraphicFramePr>
          <p:cNvPr id="7" name="Chart 6">
            <a:extLst>
              <a:ext uri="{FF2B5EF4-FFF2-40B4-BE49-F238E27FC236}">
                <a16:creationId xmlns:a16="http://schemas.microsoft.com/office/drawing/2014/main" id="{80693729-BB52-9113-8355-4D6E5E2FD373}"/>
              </a:ext>
            </a:extLst>
          </p:cNvPr>
          <p:cNvGraphicFramePr/>
          <p:nvPr>
            <p:extLst>
              <p:ext uri="{D42A27DB-BD31-4B8C-83A1-F6EECF244321}">
                <p14:modId xmlns:p14="http://schemas.microsoft.com/office/powerpoint/2010/main" val="875430663"/>
              </p:ext>
            </p:extLst>
          </p:nvPr>
        </p:nvGraphicFramePr>
        <p:xfrm>
          <a:off x="5673213" y="1377484"/>
          <a:ext cx="6208273" cy="2909152"/>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D59ECBEF-7FC0-CBF1-0D1A-6A1954615BF3}"/>
              </a:ext>
            </a:extLst>
          </p:cNvPr>
          <p:cNvSpPr txBox="1"/>
          <p:nvPr/>
        </p:nvSpPr>
        <p:spPr>
          <a:xfrm>
            <a:off x="337154" y="4464853"/>
            <a:ext cx="11517693"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Data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majority (71.2%) agree that personalization influences add-on buying, with moderate neutral (12.7%) and low disagreement, indicating a strong positive inclination.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Data Interpretation: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Personalization influences decisions but works best with pricing incentives and timing, as it alone may not ensure actual purchase conversions.</a:t>
            </a:r>
          </a:p>
        </p:txBody>
      </p:sp>
    </p:spTree>
    <p:extLst>
      <p:ext uri="{BB962C8B-B14F-4D97-AF65-F5344CB8AC3E}">
        <p14:creationId xmlns:p14="http://schemas.microsoft.com/office/powerpoint/2010/main" val="3231548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9B652DCA-6E9E-06E8-028A-2215A110509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093F09-6DEB-BF50-729C-1DE37FBE0B8E}"/>
              </a:ext>
            </a:extLst>
          </p:cNvPr>
          <p:cNvSpPr/>
          <p:nvPr/>
        </p:nvSpPr>
        <p:spPr>
          <a:xfrm>
            <a:off x="0" y="1"/>
            <a:ext cx="12192000" cy="806244"/>
          </a:xfrm>
          <a:prstGeom prst="rect">
            <a:avLst/>
          </a:prstGeom>
          <a:gradFill>
            <a:gsLst>
              <a:gs pos="27000">
                <a:srgbClr val="E23744"/>
              </a:gs>
              <a:gs pos="73000">
                <a:srgbClr val="FC8019"/>
              </a:gs>
            </a:gsLst>
            <a:lin ang="19200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Results </a:t>
            </a:r>
            <a:endParaRPr lang="en-IN" i="1" dirty="0">
              <a:ln>
                <a:solidFill>
                  <a:schemeClr val="accent3">
                    <a:lumMod val="20000"/>
                    <a:lumOff val="80000"/>
                  </a:schemeClr>
                </a:solidFill>
              </a:ln>
              <a:latin typeface="Algerian" panose="04020705040A02060702" pitchFamily="82" charset="0"/>
            </a:endParaRPr>
          </a:p>
        </p:txBody>
      </p:sp>
      <p:pic>
        <p:nvPicPr>
          <p:cNvPr id="4" name="Picture 3">
            <a:extLst>
              <a:ext uri="{FF2B5EF4-FFF2-40B4-BE49-F238E27FC236}">
                <a16:creationId xmlns:a16="http://schemas.microsoft.com/office/drawing/2014/main" id="{22E406E6-90F4-EF3A-6336-916A0F531F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43" y="875226"/>
            <a:ext cx="12044515" cy="5894283"/>
          </a:xfrm>
          <a:prstGeom prst="rect">
            <a:avLst/>
          </a:prstGeom>
        </p:spPr>
      </p:pic>
    </p:spTree>
    <p:extLst>
      <p:ext uri="{BB962C8B-B14F-4D97-AF65-F5344CB8AC3E}">
        <p14:creationId xmlns:p14="http://schemas.microsoft.com/office/powerpoint/2010/main" val="2701296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BB176E88-26B9-1E19-C032-85AE4CA3C78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03C6E25-4599-4E89-6596-951BCA3FF916}"/>
              </a:ext>
            </a:extLst>
          </p:cNvPr>
          <p:cNvSpPr/>
          <p:nvPr/>
        </p:nvSpPr>
        <p:spPr>
          <a:xfrm>
            <a:off x="0" y="1"/>
            <a:ext cx="12192000" cy="806244"/>
          </a:xfrm>
          <a:prstGeom prst="rect">
            <a:avLst/>
          </a:prstGeom>
          <a:gradFill>
            <a:gsLst>
              <a:gs pos="27000">
                <a:srgbClr val="E23744"/>
              </a:gs>
              <a:gs pos="73000">
                <a:srgbClr val="FC8019"/>
              </a:gs>
            </a:gsLst>
            <a:lin ang="14400000" scaled="0"/>
          </a:gra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Results </a:t>
            </a:r>
            <a:endParaRPr lang="en-IN" i="1" dirty="0">
              <a:ln>
                <a:solidFill>
                  <a:schemeClr val="accent3">
                    <a:lumMod val="20000"/>
                    <a:lumOff val="80000"/>
                  </a:schemeClr>
                </a:solidFill>
              </a:ln>
              <a:latin typeface="Algerian" panose="04020705040A02060702" pitchFamily="82" charset="0"/>
            </a:endParaRPr>
          </a:p>
        </p:txBody>
      </p:sp>
      <p:pic>
        <p:nvPicPr>
          <p:cNvPr id="5" name="Picture 4">
            <a:extLst>
              <a:ext uri="{FF2B5EF4-FFF2-40B4-BE49-F238E27FC236}">
                <a16:creationId xmlns:a16="http://schemas.microsoft.com/office/drawing/2014/main" id="{902A10A7-7563-996E-8A4E-A56A057630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87" y="942150"/>
            <a:ext cx="11956026" cy="5812612"/>
          </a:xfrm>
          <a:prstGeom prst="rect">
            <a:avLst/>
          </a:prstGeom>
        </p:spPr>
      </p:pic>
    </p:spTree>
    <p:extLst>
      <p:ext uri="{BB962C8B-B14F-4D97-AF65-F5344CB8AC3E}">
        <p14:creationId xmlns:p14="http://schemas.microsoft.com/office/powerpoint/2010/main" val="796906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74F8E70F-7924-4ABB-05B8-A55CC613766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659448-9B52-CDE6-B599-4B278AE80D4A}"/>
              </a:ext>
            </a:extLst>
          </p:cNvPr>
          <p:cNvSpPr/>
          <p:nvPr/>
        </p:nvSpPr>
        <p:spPr>
          <a:xfrm>
            <a:off x="0" y="1"/>
            <a:ext cx="12192000" cy="806244"/>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Results </a:t>
            </a:r>
            <a:endParaRPr lang="en-IN" i="1" dirty="0">
              <a:ln>
                <a:solidFill>
                  <a:schemeClr val="accent3">
                    <a:lumMod val="20000"/>
                    <a:lumOff val="80000"/>
                  </a:schemeClr>
                </a:solidFill>
              </a:ln>
              <a:latin typeface="Algerian" panose="04020705040A02060702" pitchFamily="82" charset="0"/>
            </a:endParaRPr>
          </a:p>
        </p:txBody>
      </p:sp>
      <p:pic>
        <p:nvPicPr>
          <p:cNvPr id="4" name="Picture 3">
            <a:extLst>
              <a:ext uri="{FF2B5EF4-FFF2-40B4-BE49-F238E27FC236}">
                <a16:creationId xmlns:a16="http://schemas.microsoft.com/office/drawing/2014/main" id="{976E2999-3548-E3FA-63FE-6F322D301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8" y="924232"/>
            <a:ext cx="12034684" cy="5840362"/>
          </a:xfrm>
          <a:prstGeom prst="rect">
            <a:avLst/>
          </a:prstGeom>
        </p:spPr>
      </p:pic>
    </p:spTree>
    <p:extLst>
      <p:ext uri="{BB962C8B-B14F-4D97-AF65-F5344CB8AC3E}">
        <p14:creationId xmlns:p14="http://schemas.microsoft.com/office/powerpoint/2010/main" val="645399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26B3909-526D-7DC3-B4E1-049CE03E30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2347FB-ACCE-F291-D563-8FF2BEECAC52}"/>
              </a:ext>
            </a:extLst>
          </p:cNvPr>
          <p:cNvSpPr txBox="1"/>
          <p:nvPr/>
        </p:nvSpPr>
        <p:spPr>
          <a:xfrm>
            <a:off x="3048000" y="3246792"/>
            <a:ext cx="6096000" cy="369332"/>
          </a:xfrm>
          <a:prstGeom prst="rect">
            <a:avLst/>
          </a:prstGeom>
          <a:noFill/>
        </p:spPr>
        <p:txBody>
          <a:bodyPr wrap="square">
            <a:spAutoFit/>
          </a:bodyPr>
          <a:lstStyle/>
          <a:p>
            <a:pPr algn="ctr"/>
            <a:r>
              <a:rPr lang="en-IN" sz="1800" i="1" dirty="0">
                <a:ln>
                  <a:solidFill>
                    <a:srgbClr val="F8F9FA"/>
                  </a:solidFill>
                </a:ln>
                <a:solidFill>
                  <a:srgbClr val="F8F9FA"/>
                </a:solidFill>
                <a:latin typeface="Algerian" panose="04020705040A02060702" pitchFamily="82" charset="0"/>
              </a:rPr>
              <a:t> </a:t>
            </a:r>
            <a:endParaRPr lang="en-IN" i="1" dirty="0">
              <a:ln>
                <a:solidFill>
                  <a:srgbClr val="F8F9FA"/>
                </a:solidFill>
              </a:ln>
              <a:solidFill>
                <a:srgbClr val="F8F9FA"/>
              </a:solidFill>
              <a:latin typeface="Algerian" panose="04020705040A02060702" pitchFamily="82" charset="0"/>
            </a:endParaRPr>
          </a:p>
        </p:txBody>
      </p:sp>
      <p:sp>
        <p:nvSpPr>
          <p:cNvPr id="5" name="TextBox 4">
            <a:extLst>
              <a:ext uri="{FF2B5EF4-FFF2-40B4-BE49-F238E27FC236}">
                <a16:creationId xmlns:a16="http://schemas.microsoft.com/office/drawing/2014/main" id="{D42D7AC6-83F4-71A5-3A40-BC77FAD42B57}"/>
              </a:ext>
            </a:extLst>
          </p:cNvPr>
          <p:cNvSpPr txBox="1"/>
          <p:nvPr/>
        </p:nvSpPr>
        <p:spPr>
          <a:xfrm>
            <a:off x="383458" y="1207439"/>
            <a:ext cx="11602064" cy="5078313"/>
          </a:xfrm>
          <a:prstGeom prst="rect">
            <a:avLst/>
          </a:prstGeom>
          <a:solidFill>
            <a:srgbClr val="FFFFFF"/>
          </a:solidFill>
        </p:spPr>
        <p:txBody>
          <a:bodyPr wrap="square">
            <a:spAutoFit/>
          </a:bodyPr>
          <a:lstStyle/>
          <a:p>
            <a:pPr>
              <a:buNone/>
            </a:pPr>
            <a:r>
              <a:rPr lang="en-US" b="1" dirty="0">
                <a:solidFill>
                  <a:srgbClr val="003366"/>
                </a:solidFill>
                <a:latin typeface="Times New Roman" panose="02020603050405020304" pitchFamily="18" charset="0"/>
                <a:cs typeface="Times New Roman" panose="02020603050405020304" pitchFamily="18" charset="0"/>
              </a:rPr>
              <a:t>1. Discounts Drive Usage</a:t>
            </a:r>
          </a:p>
          <a:p>
            <a:pPr>
              <a:buNone/>
            </a:pPr>
            <a:r>
              <a:rPr lang="en-US" dirty="0">
                <a:solidFill>
                  <a:srgbClr val="003366"/>
                </a:solidFill>
                <a:latin typeface="Times New Roman" panose="02020603050405020304" pitchFamily="18" charset="0"/>
                <a:cs typeface="Times New Roman" panose="02020603050405020304" pitchFamily="18" charset="0"/>
              </a:rPr>
              <a:t>Discounts and offers are the primary reason for using food delivery apps (46.6%), showing strong price sensitivity among users.</a:t>
            </a:r>
          </a:p>
          <a:p>
            <a:pPr>
              <a:buNone/>
            </a:pPr>
            <a:endParaRPr lang="en-US" dirty="0">
              <a:solidFill>
                <a:srgbClr val="003366"/>
              </a:solidFill>
              <a:latin typeface="Times New Roman" panose="02020603050405020304" pitchFamily="18" charset="0"/>
              <a:cs typeface="Times New Roman" panose="02020603050405020304" pitchFamily="18" charset="0"/>
            </a:endParaRPr>
          </a:p>
          <a:p>
            <a:pPr>
              <a:buNone/>
            </a:pPr>
            <a:r>
              <a:rPr lang="en-US" b="1" dirty="0">
                <a:solidFill>
                  <a:srgbClr val="003366"/>
                </a:solidFill>
                <a:latin typeface="Times New Roman" panose="02020603050405020304" pitchFamily="18" charset="0"/>
                <a:cs typeface="Times New Roman" panose="02020603050405020304" pitchFamily="18" charset="0"/>
              </a:rPr>
              <a:t>2. Low Platform Loyalty</a:t>
            </a:r>
          </a:p>
          <a:p>
            <a:pPr>
              <a:buNone/>
            </a:pPr>
            <a:r>
              <a:rPr lang="en-US" dirty="0">
                <a:solidFill>
                  <a:srgbClr val="003366"/>
                </a:solidFill>
                <a:latin typeface="Times New Roman" panose="02020603050405020304" pitchFamily="18" charset="0"/>
                <a:cs typeface="Times New Roman" panose="02020603050405020304" pitchFamily="18" charset="0"/>
              </a:rPr>
              <a:t>A significant 32.2% of users use both Zomato and Swiggy, indicating frequent switching and low brand loyalty.</a:t>
            </a:r>
          </a:p>
          <a:p>
            <a:pPr>
              <a:buNone/>
            </a:pPr>
            <a:endParaRPr lang="en-US" dirty="0">
              <a:solidFill>
                <a:srgbClr val="003366"/>
              </a:solidFill>
              <a:latin typeface="Times New Roman" panose="02020603050405020304" pitchFamily="18" charset="0"/>
              <a:cs typeface="Times New Roman" panose="02020603050405020304" pitchFamily="18" charset="0"/>
            </a:endParaRPr>
          </a:p>
          <a:p>
            <a:pPr>
              <a:buNone/>
            </a:pPr>
            <a:r>
              <a:rPr lang="en-US" b="1" dirty="0">
                <a:solidFill>
                  <a:srgbClr val="003366"/>
                </a:solidFill>
                <a:latin typeface="Times New Roman" panose="02020603050405020304" pitchFamily="18" charset="0"/>
                <a:cs typeface="Times New Roman" panose="02020603050405020304" pitchFamily="18" charset="0"/>
              </a:rPr>
              <a:t>3. Add-on Purchases Are Low</a:t>
            </a:r>
          </a:p>
          <a:p>
            <a:pPr>
              <a:buNone/>
            </a:pPr>
            <a:r>
              <a:rPr lang="en-US" dirty="0">
                <a:solidFill>
                  <a:srgbClr val="003366"/>
                </a:solidFill>
                <a:latin typeface="Times New Roman" panose="02020603050405020304" pitchFamily="18" charset="0"/>
                <a:cs typeface="Times New Roman" panose="02020603050405020304" pitchFamily="18" charset="0"/>
              </a:rPr>
              <a:t>About 33.9% of users rarely purchase add-ons, highlighting a gap in conversion.</a:t>
            </a:r>
          </a:p>
          <a:p>
            <a:pPr>
              <a:buNone/>
            </a:pPr>
            <a:endParaRPr lang="en-US" dirty="0">
              <a:solidFill>
                <a:srgbClr val="003366"/>
              </a:solidFill>
              <a:latin typeface="Times New Roman" panose="02020603050405020304" pitchFamily="18" charset="0"/>
              <a:cs typeface="Times New Roman" panose="02020603050405020304" pitchFamily="18" charset="0"/>
            </a:endParaRPr>
          </a:p>
          <a:p>
            <a:pPr>
              <a:buNone/>
            </a:pPr>
            <a:r>
              <a:rPr lang="en-US" b="1" dirty="0">
                <a:solidFill>
                  <a:srgbClr val="003366"/>
                </a:solidFill>
                <a:latin typeface="Times New Roman" panose="02020603050405020304" pitchFamily="18" charset="0"/>
                <a:cs typeface="Times New Roman" panose="02020603050405020304" pitchFamily="18" charset="0"/>
              </a:rPr>
              <a:t>4. Combo Deals Work Best</a:t>
            </a:r>
          </a:p>
          <a:p>
            <a:pPr>
              <a:buNone/>
            </a:pPr>
            <a:r>
              <a:rPr lang="en-US" dirty="0">
                <a:solidFill>
                  <a:srgbClr val="003366"/>
                </a:solidFill>
                <a:latin typeface="Times New Roman" panose="02020603050405020304" pitchFamily="18" charset="0"/>
                <a:cs typeface="Times New Roman" panose="02020603050405020304" pitchFamily="18" charset="0"/>
              </a:rPr>
              <a:t>Combo offers (35.6%) are the most effective motivator for add-on purchases compared to recommendations.</a:t>
            </a:r>
            <a:br>
              <a:rPr lang="en-US" dirty="0">
                <a:solidFill>
                  <a:srgbClr val="003366"/>
                </a:solidFill>
                <a:latin typeface="Times New Roman" panose="02020603050405020304" pitchFamily="18" charset="0"/>
                <a:cs typeface="Times New Roman" panose="02020603050405020304" pitchFamily="18" charset="0"/>
              </a:rPr>
            </a:br>
            <a:endParaRPr lang="en-US" dirty="0">
              <a:solidFill>
                <a:srgbClr val="003366"/>
              </a:solidFill>
              <a:latin typeface="Times New Roman" panose="02020603050405020304" pitchFamily="18" charset="0"/>
              <a:cs typeface="Times New Roman" panose="02020603050405020304" pitchFamily="18" charset="0"/>
            </a:endParaRPr>
          </a:p>
          <a:p>
            <a:pPr>
              <a:buNone/>
            </a:pPr>
            <a:r>
              <a:rPr lang="en-US" b="1" dirty="0">
                <a:solidFill>
                  <a:srgbClr val="003366"/>
                </a:solidFill>
                <a:latin typeface="Times New Roman" panose="02020603050405020304" pitchFamily="18" charset="0"/>
                <a:cs typeface="Times New Roman" panose="02020603050405020304" pitchFamily="18" charset="0"/>
              </a:rPr>
              <a:t>5. Personalization Influences Decisions</a:t>
            </a:r>
          </a:p>
          <a:p>
            <a:pPr>
              <a:buNone/>
            </a:pPr>
            <a:r>
              <a:rPr lang="en-US" dirty="0">
                <a:solidFill>
                  <a:srgbClr val="003366"/>
                </a:solidFill>
                <a:latin typeface="Times New Roman" panose="02020603050405020304" pitchFamily="18" charset="0"/>
                <a:cs typeface="Times New Roman" panose="02020603050405020304" pitchFamily="18" charset="0"/>
              </a:rPr>
              <a:t>Around 71.2% users agree that personalization impacts their behavior, but not always actual purchases.</a:t>
            </a:r>
          </a:p>
          <a:p>
            <a:pPr>
              <a:buNone/>
            </a:pPr>
            <a:endParaRPr lang="en-US" dirty="0">
              <a:solidFill>
                <a:srgbClr val="003366"/>
              </a:solidFill>
              <a:latin typeface="Times New Roman" panose="02020603050405020304" pitchFamily="18" charset="0"/>
              <a:cs typeface="Times New Roman" panose="02020603050405020304" pitchFamily="18" charset="0"/>
            </a:endParaRPr>
          </a:p>
          <a:p>
            <a:pPr>
              <a:buNone/>
            </a:pPr>
            <a:r>
              <a:rPr lang="en-US" b="1" dirty="0">
                <a:solidFill>
                  <a:srgbClr val="003366"/>
                </a:solidFill>
                <a:latin typeface="Times New Roman" panose="02020603050405020304" pitchFamily="18" charset="0"/>
                <a:cs typeface="Times New Roman" panose="02020603050405020304" pitchFamily="18" charset="0"/>
              </a:rPr>
              <a:t>6. Value &gt; Recommendation</a:t>
            </a:r>
          </a:p>
          <a:p>
            <a:pPr>
              <a:buNone/>
            </a:pPr>
            <a:r>
              <a:rPr lang="en-US" dirty="0">
                <a:solidFill>
                  <a:srgbClr val="003366"/>
                </a:solidFill>
                <a:latin typeface="Times New Roman" panose="02020603050405020304" pitchFamily="18" charset="0"/>
                <a:cs typeface="Times New Roman" panose="02020603050405020304" pitchFamily="18" charset="0"/>
              </a:rPr>
              <a:t>Users respond more to pricing (discounts, combos) than algorithm-based suggestions.</a:t>
            </a:r>
          </a:p>
        </p:txBody>
      </p:sp>
      <p:sp>
        <p:nvSpPr>
          <p:cNvPr id="6" name="Rectangle 5">
            <a:extLst>
              <a:ext uri="{FF2B5EF4-FFF2-40B4-BE49-F238E27FC236}">
                <a16:creationId xmlns:a16="http://schemas.microsoft.com/office/drawing/2014/main" id="{19CC4FE6-690A-02A5-A168-D62D0BA2AC5E}"/>
              </a:ext>
            </a:extLst>
          </p:cNvPr>
          <p:cNvSpPr/>
          <p:nvPr/>
        </p:nvSpPr>
        <p:spPr>
          <a:xfrm>
            <a:off x="0" y="1"/>
            <a:ext cx="12192000" cy="806244"/>
          </a:xfrm>
          <a:prstGeom prst="rect">
            <a:avLst/>
          </a:prstGeom>
          <a:solidFill>
            <a:srgbClr val="E23744"/>
          </a:solidFill>
          <a:ln>
            <a:solidFill>
              <a:srgbClr val="E237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FINDINGS</a:t>
            </a:r>
            <a:endParaRPr lang="en-IN" i="1" dirty="0">
              <a:ln>
                <a:solidFill>
                  <a:schemeClr val="accent3">
                    <a:lumMod val="20000"/>
                    <a:lumOff val="80000"/>
                  </a:schemeClr>
                </a:solidFill>
              </a:ln>
              <a:latin typeface="Algerian" panose="04020705040A02060702" pitchFamily="82" charset="0"/>
            </a:endParaRPr>
          </a:p>
        </p:txBody>
      </p:sp>
    </p:spTree>
    <p:extLst>
      <p:ext uri="{BB962C8B-B14F-4D97-AF65-F5344CB8AC3E}">
        <p14:creationId xmlns:p14="http://schemas.microsoft.com/office/powerpoint/2010/main" val="1695101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F268C6B-404C-E28C-405B-19CAB23D2EC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35024B-A3DD-8E60-139D-2DB5E72A5C9F}"/>
              </a:ext>
            </a:extLst>
          </p:cNvPr>
          <p:cNvSpPr txBox="1"/>
          <p:nvPr/>
        </p:nvSpPr>
        <p:spPr>
          <a:xfrm>
            <a:off x="3048000" y="3246792"/>
            <a:ext cx="6096000" cy="369332"/>
          </a:xfrm>
          <a:prstGeom prst="rect">
            <a:avLst/>
          </a:prstGeom>
          <a:noFill/>
        </p:spPr>
        <p:txBody>
          <a:bodyPr wrap="square">
            <a:spAutoFit/>
          </a:bodyPr>
          <a:lstStyle/>
          <a:p>
            <a:pPr algn="ctr"/>
            <a:r>
              <a:rPr lang="en-IN" sz="1800" i="1" dirty="0">
                <a:ln>
                  <a:solidFill>
                    <a:srgbClr val="F8F9FA"/>
                  </a:solidFill>
                </a:ln>
                <a:solidFill>
                  <a:srgbClr val="F8F9FA"/>
                </a:solidFill>
                <a:latin typeface="Algerian" panose="04020705040A02060702" pitchFamily="82" charset="0"/>
              </a:rPr>
              <a:t> </a:t>
            </a:r>
            <a:endParaRPr lang="en-IN" i="1" dirty="0">
              <a:ln>
                <a:solidFill>
                  <a:srgbClr val="F8F9FA"/>
                </a:solidFill>
              </a:ln>
              <a:solidFill>
                <a:srgbClr val="F8F9FA"/>
              </a:solidFill>
              <a:latin typeface="Algerian" panose="04020705040A02060702" pitchFamily="82" charset="0"/>
            </a:endParaRPr>
          </a:p>
        </p:txBody>
      </p:sp>
      <p:sp>
        <p:nvSpPr>
          <p:cNvPr id="5" name="TextBox 4">
            <a:extLst>
              <a:ext uri="{FF2B5EF4-FFF2-40B4-BE49-F238E27FC236}">
                <a16:creationId xmlns:a16="http://schemas.microsoft.com/office/drawing/2014/main" id="{7C38E4E8-51B0-BC2A-6AFB-18488F007DA9}"/>
              </a:ext>
            </a:extLst>
          </p:cNvPr>
          <p:cNvSpPr txBox="1"/>
          <p:nvPr/>
        </p:nvSpPr>
        <p:spPr>
          <a:xfrm>
            <a:off x="383458" y="1207439"/>
            <a:ext cx="11602064" cy="2246769"/>
          </a:xfrm>
          <a:prstGeom prst="rect">
            <a:avLst/>
          </a:prstGeom>
          <a:solidFill>
            <a:srgbClr val="FFFFFF"/>
          </a:solidFill>
        </p:spPr>
        <p:txBody>
          <a:bodyPr wrap="square">
            <a:spAutoFit/>
          </a:bodyPr>
          <a:lstStyle/>
          <a:p>
            <a:r>
              <a:rPr lang="en-US" sz="2800" dirty="0">
                <a:solidFill>
                  <a:srgbClr val="006666"/>
                </a:solidFill>
                <a:latin typeface="Times New Roman" panose="02020603050405020304" pitchFamily="18" charset="0"/>
                <a:cs typeface="Times New Roman" panose="02020603050405020304" pitchFamily="18" charset="0"/>
              </a:rPr>
              <a:t>Personalization influences customer decisions, but pricing strategies like discounts and combo deals are the primary drivers of add-on purchases. Customers are price-sensitive and show low platform loyalty. Therefore, combining personalization with value-based strategies is essential to increase conversions and revenue.</a:t>
            </a:r>
          </a:p>
        </p:txBody>
      </p:sp>
      <p:sp>
        <p:nvSpPr>
          <p:cNvPr id="6" name="Rectangle 5">
            <a:extLst>
              <a:ext uri="{FF2B5EF4-FFF2-40B4-BE49-F238E27FC236}">
                <a16:creationId xmlns:a16="http://schemas.microsoft.com/office/drawing/2014/main" id="{F2E4A509-D923-8571-6510-F186E4A310EF}"/>
              </a:ext>
            </a:extLst>
          </p:cNvPr>
          <p:cNvSpPr/>
          <p:nvPr/>
        </p:nvSpPr>
        <p:spPr>
          <a:xfrm>
            <a:off x="0" y="1"/>
            <a:ext cx="12192000" cy="806244"/>
          </a:xfrm>
          <a:prstGeom prst="rect">
            <a:avLst/>
          </a:prstGeom>
          <a:solidFill>
            <a:srgbClr val="FC8019"/>
          </a:solidFill>
          <a:ln>
            <a:solidFill>
              <a:srgbClr val="E237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CONCLUSION</a:t>
            </a:r>
            <a:endParaRPr lang="en-IN" i="1" dirty="0">
              <a:ln>
                <a:solidFill>
                  <a:schemeClr val="accent3">
                    <a:lumMod val="20000"/>
                    <a:lumOff val="80000"/>
                  </a:schemeClr>
                </a:solidFill>
              </a:ln>
              <a:latin typeface="Algerian" panose="04020705040A02060702" pitchFamily="82" charset="0"/>
            </a:endParaRPr>
          </a:p>
        </p:txBody>
      </p:sp>
    </p:spTree>
    <p:extLst>
      <p:ext uri="{BB962C8B-B14F-4D97-AF65-F5344CB8AC3E}">
        <p14:creationId xmlns:p14="http://schemas.microsoft.com/office/powerpoint/2010/main" val="721022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C9BB02C-3884-D6C1-CC3F-E958637C6C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AB2B0D-7657-B6AD-4A64-6B990344DC7D}"/>
              </a:ext>
            </a:extLst>
          </p:cNvPr>
          <p:cNvSpPr txBox="1"/>
          <p:nvPr/>
        </p:nvSpPr>
        <p:spPr>
          <a:xfrm>
            <a:off x="3048000" y="3246792"/>
            <a:ext cx="6096000" cy="369332"/>
          </a:xfrm>
          <a:prstGeom prst="rect">
            <a:avLst/>
          </a:prstGeom>
          <a:noFill/>
        </p:spPr>
        <p:txBody>
          <a:bodyPr wrap="square">
            <a:spAutoFit/>
          </a:bodyPr>
          <a:lstStyle/>
          <a:p>
            <a:pPr algn="ctr"/>
            <a:r>
              <a:rPr lang="en-IN" sz="1800" i="1" dirty="0">
                <a:ln>
                  <a:solidFill>
                    <a:srgbClr val="F8F9FA"/>
                  </a:solidFill>
                </a:ln>
                <a:solidFill>
                  <a:srgbClr val="F8F9FA"/>
                </a:solidFill>
                <a:latin typeface="Algerian" panose="04020705040A02060702" pitchFamily="82" charset="0"/>
              </a:rPr>
              <a:t> </a:t>
            </a:r>
            <a:endParaRPr lang="en-IN" i="1" dirty="0">
              <a:ln>
                <a:solidFill>
                  <a:srgbClr val="F8F9FA"/>
                </a:solidFill>
              </a:ln>
              <a:solidFill>
                <a:srgbClr val="F8F9FA"/>
              </a:solidFill>
              <a:latin typeface="Algerian" panose="04020705040A02060702" pitchFamily="82" charset="0"/>
            </a:endParaRPr>
          </a:p>
        </p:txBody>
      </p:sp>
      <p:sp>
        <p:nvSpPr>
          <p:cNvPr id="5" name="TextBox 4">
            <a:extLst>
              <a:ext uri="{FF2B5EF4-FFF2-40B4-BE49-F238E27FC236}">
                <a16:creationId xmlns:a16="http://schemas.microsoft.com/office/drawing/2014/main" id="{BD3E5425-34F4-BD26-C1BF-1124E1C921BF}"/>
              </a:ext>
            </a:extLst>
          </p:cNvPr>
          <p:cNvSpPr txBox="1"/>
          <p:nvPr/>
        </p:nvSpPr>
        <p:spPr>
          <a:xfrm>
            <a:off x="383458" y="1207439"/>
            <a:ext cx="11602064" cy="3416320"/>
          </a:xfrm>
          <a:prstGeom prst="rect">
            <a:avLst/>
          </a:prstGeom>
          <a:solidFill>
            <a:srgbClr val="FFFFFF"/>
          </a:solidFill>
        </p:spPr>
        <p:txBody>
          <a:bodyPr wrap="square">
            <a:spAutoFit/>
          </a:bodyPr>
          <a:lstStyle/>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Combine personalization with discounts </a:t>
            </a:r>
          </a:p>
          <a:p>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Promote combo deals and bundling </a:t>
            </a:r>
          </a:p>
          <a:p>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Improve checkout-stage recommendations </a:t>
            </a:r>
          </a:p>
          <a:p>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Use customer segmentation</a:t>
            </a:r>
          </a:p>
          <a:p>
            <a:r>
              <a:rPr lang="en-US" sz="24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Enhance UI/UX and loyalty programs </a:t>
            </a:r>
          </a:p>
        </p:txBody>
      </p:sp>
      <p:sp>
        <p:nvSpPr>
          <p:cNvPr id="6" name="Rectangle 5">
            <a:extLst>
              <a:ext uri="{FF2B5EF4-FFF2-40B4-BE49-F238E27FC236}">
                <a16:creationId xmlns:a16="http://schemas.microsoft.com/office/drawing/2014/main" id="{B5A9C12B-94AB-7698-F5D3-F2D2FA0138D9}"/>
              </a:ext>
            </a:extLst>
          </p:cNvPr>
          <p:cNvSpPr/>
          <p:nvPr/>
        </p:nvSpPr>
        <p:spPr>
          <a:xfrm>
            <a:off x="0" y="1"/>
            <a:ext cx="12192000" cy="806244"/>
          </a:xfrm>
          <a:prstGeom prst="rect">
            <a:avLst/>
          </a:prstGeom>
          <a:solidFill>
            <a:srgbClr val="E23744"/>
          </a:solidFill>
          <a:ln>
            <a:solidFill>
              <a:srgbClr val="E237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SUGGESTIONS</a:t>
            </a:r>
            <a:endParaRPr lang="en-IN" i="1" dirty="0">
              <a:ln>
                <a:solidFill>
                  <a:schemeClr val="accent3">
                    <a:lumMod val="20000"/>
                    <a:lumOff val="80000"/>
                  </a:schemeClr>
                </a:solidFill>
              </a:ln>
              <a:latin typeface="Algerian" panose="04020705040A02060702" pitchFamily="82" charset="0"/>
            </a:endParaRPr>
          </a:p>
        </p:txBody>
      </p:sp>
    </p:spTree>
    <p:extLst>
      <p:ext uri="{BB962C8B-B14F-4D97-AF65-F5344CB8AC3E}">
        <p14:creationId xmlns:p14="http://schemas.microsoft.com/office/powerpoint/2010/main" val="662648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AC2A9F-09F8-0482-FF9A-0280CA17C5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4558A0-FFFC-3E74-8722-EC29A399F5A8}"/>
              </a:ext>
            </a:extLst>
          </p:cNvPr>
          <p:cNvSpPr txBox="1"/>
          <p:nvPr/>
        </p:nvSpPr>
        <p:spPr>
          <a:xfrm>
            <a:off x="3048000" y="3246792"/>
            <a:ext cx="6096000" cy="369332"/>
          </a:xfrm>
          <a:prstGeom prst="rect">
            <a:avLst/>
          </a:prstGeom>
          <a:noFill/>
        </p:spPr>
        <p:txBody>
          <a:bodyPr wrap="square">
            <a:spAutoFit/>
          </a:bodyPr>
          <a:lstStyle/>
          <a:p>
            <a:pPr algn="ctr"/>
            <a:r>
              <a:rPr lang="en-IN" sz="1800" i="1" dirty="0">
                <a:ln>
                  <a:solidFill>
                    <a:srgbClr val="F8F9FA"/>
                  </a:solidFill>
                </a:ln>
                <a:solidFill>
                  <a:srgbClr val="F8F9FA"/>
                </a:solidFill>
                <a:latin typeface="Algerian" panose="04020705040A02060702" pitchFamily="82" charset="0"/>
              </a:rPr>
              <a:t> </a:t>
            </a:r>
            <a:endParaRPr lang="en-IN" i="1" dirty="0">
              <a:ln>
                <a:solidFill>
                  <a:srgbClr val="F8F9FA"/>
                </a:solidFill>
              </a:ln>
              <a:solidFill>
                <a:srgbClr val="F8F9FA"/>
              </a:solidFill>
              <a:latin typeface="Algerian" panose="04020705040A02060702" pitchFamily="82" charset="0"/>
            </a:endParaRPr>
          </a:p>
        </p:txBody>
      </p:sp>
      <p:sp>
        <p:nvSpPr>
          <p:cNvPr id="6" name="Rectangle 5">
            <a:extLst>
              <a:ext uri="{FF2B5EF4-FFF2-40B4-BE49-F238E27FC236}">
                <a16:creationId xmlns:a16="http://schemas.microsoft.com/office/drawing/2014/main" id="{BCCCC5B8-C4D9-DD65-D721-B7E97917E73D}"/>
              </a:ext>
            </a:extLst>
          </p:cNvPr>
          <p:cNvSpPr/>
          <p:nvPr/>
        </p:nvSpPr>
        <p:spPr>
          <a:xfrm>
            <a:off x="0" y="1"/>
            <a:ext cx="12192000" cy="806244"/>
          </a:xfrm>
          <a:prstGeom prst="rect">
            <a:avLst/>
          </a:prstGeom>
          <a:solidFill>
            <a:srgbClr val="FC8019"/>
          </a:solidFill>
          <a:ln>
            <a:solidFill>
              <a:srgbClr val="E237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i="1" dirty="0">
                <a:ln>
                  <a:solidFill>
                    <a:schemeClr val="accent3">
                      <a:lumMod val="20000"/>
                      <a:lumOff val="80000"/>
                    </a:schemeClr>
                  </a:solidFill>
                </a:ln>
                <a:latin typeface="Algerian" panose="04020705040A02060702" pitchFamily="82" charset="0"/>
              </a:rPr>
              <a:t>References</a:t>
            </a:r>
          </a:p>
        </p:txBody>
      </p:sp>
      <p:sp>
        <p:nvSpPr>
          <p:cNvPr id="8" name="TextBox 7">
            <a:extLst>
              <a:ext uri="{FF2B5EF4-FFF2-40B4-BE49-F238E27FC236}">
                <a16:creationId xmlns:a16="http://schemas.microsoft.com/office/drawing/2014/main" id="{62273335-38D5-A3BC-AA13-40500685EE83}"/>
              </a:ext>
            </a:extLst>
          </p:cNvPr>
          <p:cNvSpPr txBox="1"/>
          <p:nvPr/>
        </p:nvSpPr>
        <p:spPr>
          <a:xfrm>
            <a:off x="408038" y="1049891"/>
            <a:ext cx="11375923" cy="3970318"/>
          </a:xfrm>
          <a:prstGeom prst="rect">
            <a:avLst/>
          </a:prstGeom>
          <a:noFill/>
        </p:spPr>
        <p:txBody>
          <a:bodyPr wrap="square" rtlCol="0">
            <a:spAutoFit/>
          </a:bodyPr>
          <a:lstStyle/>
          <a:p>
            <a:r>
              <a:rPr lang="en-US" i="1" dirty="0">
                <a:solidFill>
                  <a:schemeClr val="tx2"/>
                </a:solidFill>
                <a:latin typeface="Times New Roman" panose="02020603050405020304" pitchFamily="18" charset="0"/>
                <a:cs typeface="Times New Roman" panose="02020603050405020304" pitchFamily="18" charset="0"/>
              </a:rPr>
              <a:t>PwC. (2025). Voice of the Consumer Survey: India Perspective.</a:t>
            </a:r>
            <a:br>
              <a:rPr lang="en-US" i="1" dirty="0">
                <a:solidFill>
                  <a:schemeClr val="tx2"/>
                </a:solidFill>
                <a:latin typeface="Times New Roman" panose="02020603050405020304" pitchFamily="18" charset="0"/>
                <a:cs typeface="Times New Roman" panose="02020603050405020304" pitchFamily="18" charset="0"/>
              </a:rPr>
            </a:br>
            <a:br>
              <a:rPr lang="en-US" i="1" dirty="0">
                <a:solidFill>
                  <a:schemeClr val="tx2"/>
                </a:solidFill>
                <a:latin typeface="Times New Roman" panose="02020603050405020304" pitchFamily="18" charset="0"/>
                <a:cs typeface="Times New Roman" panose="02020603050405020304" pitchFamily="18" charset="0"/>
              </a:rPr>
            </a:br>
            <a:r>
              <a:rPr lang="en-US" i="1" dirty="0">
                <a:solidFill>
                  <a:schemeClr val="tx2"/>
                </a:solidFill>
                <a:latin typeface="Times New Roman" panose="02020603050405020304" pitchFamily="18" charset="0"/>
                <a:cs typeface="Times New Roman" panose="02020603050405020304" pitchFamily="18" charset="0"/>
              </a:rPr>
              <a:t>IMARC Group. (2024). India Online Food Delivery Market Report.</a:t>
            </a:r>
            <a:br>
              <a:rPr lang="en-US" i="1" dirty="0">
                <a:solidFill>
                  <a:schemeClr val="tx2"/>
                </a:solidFill>
                <a:latin typeface="Times New Roman" panose="02020603050405020304" pitchFamily="18" charset="0"/>
                <a:cs typeface="Times New Roman" panose="02020603050405020304" pitchFamily="18" charset="0"/>
              </a:rPr>
            </a:br>
            <a:br>
              <a:rPr lang="en-US" i="1" dirty="0">
                <a:solidFill>
                  <a:schemeClr val="tx2"/>
                </a:solidFill>
                <a:latin typeface="Times New Roman" panose="02020603050405020304" pitchFamily="18" charset="0"/>
                <a:cs typeface="Times New Roman" panose="02020603050405020304" pitchFamily="18" charset="0"/>
              </a:rPr>
            </a:br>
            <a:r>
              <a:rPr lang="en-US" i="1" dirty="0" err="1">
                <a:solidFill>
                  <a:schemeClr val="tx2"/>
                </a:solidFill>
                <a:latin typeface="Times New Roman" panose="02020603050405020304" pitchFamily="18" charset="0"/>
                <a:cs typeface="Times New Roman" panose="02020603050405020304" pitchFamily="18" charset="0"/>
              </a:rPr>
              <a:t>Renub</a:t>
            </a:r>
            <a:r>
              <a:rPr lang="en-US" i="1" dirty="0">
                <a:solidFill>
                  <a:schemeClr val="tx2"/>
                </a:solidFill>
                <a:latin typeface="Times New Roman" panose="02020603050405020304" pitchFamily="18" charset="0"/>
                <a:cs typeface="Times New Roman" panose="02020603050405020304" pitchFamily="18" charset="0"/>
              </a:rPr>
              <a:t> Research. (2026). India Online Food Delivery Market Forecast (2026–2034).</a:t>
            </a:r>
            <a:br>
              <a:rPr lang="en-US" i="1" dirty="0">
                <a:solidFill>
                  <a:schemeClr val="tx2"/>
                </a:solidFill>
                <a:latin typeface="Times New Roman" panose="02020603050405020304" pitchFamily="18" charset="0"/>
                <a:cs typeface="Times New Roman" panose="02020603050405020304" pitchFamily="18" charset="0"/>
              </a:rPr>
            </a:br>
            <a:endParaRPr lang="en-US" i="1" dirty="0">
              <a:solidFill>
                <a:schemeClr val="tx2"/>
              </a:solidFill>
              <a:latin typeface="Times New Roman" panose="02020603050405020304" pitchFamily="18" charset="0"/>
              <a:cs typeface="Times New Roman" panose="02020603050405020304" pitchFamily="18" charset="0"/>
            </a:endParaRPr>
          </a:p>
          <a:p>
            <a:r>
              <a:rPr lang="en-US" i="1" dirty="0" err="1">
                <a:solidFill>
                  <a:schemeClr val="tx2"/>
                </a:solidFill>
                <a:latin typeface="Times New Roman" panose="02020603050405020304" pitchFamily="18" charset="0"/>
                <a:cs typeface="Times New Roman" panose="02020603050405020304" pitchFamily="18" charset="0"/>
              </a:rPr>
              <a:t>Deliverect</a:t>
            </a:r>
            <a:r>
              <a:rPr lang="en-US" i="1" dirty="0">
                <a:solidFill>
                  <a:schemeClr val="tx2"/>
                </a:solidFill>
                <a:latin typeface="Times New Roman" panose="02020603050405020304" pitchFamily="18" charset="0"/>
                <a:cs typeface="Times New Roman" panose="02020603050405020304" pitchFamily="18" charset="0"/>
              </a:rPr>
              <a:t>. (2025). State of the Food Delivery Industry Report.</a:t>
            </a:r>
            <a:br>
              <a:rPr lang="en-US" i="1" dirty="0">
                <a:solidFill>
                  <a:schemeClr val="tx2"/>
                </a:solidFill>
                <a:latin typeface="Times New Roman" panose="02020603050405020304" pitchFamily="18" charset="0"/>
                <a:cs typeface="Times New Roman" panose="02020603050405020304" pitchFamily="18" charset="0"/>
              </a:rPr>
            </a:br>
            <a:br>
              <a:rPr lang="en-US" i="1" dirty="0">
                <a:solidFill>
                  <a:schemeClr val="tx2"/>
                </a:solidFill>
                <a:latin typeface="Times New Roman" panose="02020603050405020304" pitchFamily="18" charset="0"/>
                <a:cs typeface="Times New Roman" panose="02020603050405020304" pitchFamily="18" charset="0"/>
              </a:rPr>
            </a:br>
            <a:r>
              <a:rPr lang="en-US" i="1" dirty="0">
                <a:solidFill>
                  <a:schemeClr val="tx2"/>
                </a:solidFill>
                <a:latin typeface="Times New Roman" panose="02020603050405020304" pitchFamily="18" charset="0"/>
                <a:cs typeface="Times New Roman" panose="02020603050405020304" pitchFamily="18" charset="0"/>
              </a:rPr>
              <a:t>IMARC Group. (2025). Drivers of Online Food Delivery Growth in India.</a:t>
            </a:r>
            <a:br>
              <a:rPr lang="en-US" i="1" dirty="0">
                <a:solidFill>
                  <a:schemeClr val="tx2"/>
                </a:solidFill>
                <a:latin typeface="Times New Roman" panose="02020603050405020304" pitchFamily="18" charset="0"/>
                <a:cs typeface="Times New Roman" panose="02020603050405020304" pitchFamily="18" charset="0"/>
              </a:rPr>
            </a:br>
            <a:br>
              <a:rPr lang="en-US" i="1" dirty="0">
                <a:solidFill>
                  <a:schemeClr val="tx2"/>
                </a:solidFill>
                <a:latin typeface="Times New Roman" panose="02020603050405020304" pitchFamily="18" charset="0"/>
                <a:cs typeface="Times New Roman" panose="02020603050405020304" pitchFamily="18" charset="0"/>
              </a:rPr>
            </a:br>
            <a:r>
              <a:rPr lang="en-US" i="1" dirty="0">
                <a:solidFill>
                  <a:schemeClr val="tx2"/>
                </a:solidFill>
                <a:latin typeface="Times New Roman" panose="02020603050405020304" pitchFamily="18" charset="0"/>
                <a:cs typeface="Times New Roman" panose="02020603050405020304" pitchFamily="18" charset="0"/>
              </a:rPr>
              <a:t>IJHSSM Journal. (2025). Consumer Preferences in Online Food Delivery Services.</a:t>
            </a:r>
            <a:br>
              <a:rPr lang="en-US" i="1" dirty="0">
                <a:solidFill>
                  <a:schemeClr val="tx2"/>
                </a:solidFill>
                <a:latin typeface="Times New Roman" panose="02020603050405020304" pitchFamily="18" charset="0"/>
                <a:cs typeface="Times New Roman" panose="02020603050405020304" pitchFamily="18" charset="0"/>
              </a:rPr>
            </a:br>
            <a:br>
              <a:rPr lang="en-US" i="1" dirty="0">
                <a:solidFill>
                  <a:schemeClr val="tx2"/>
                </a:solidFill>
                <a:latin typeface="Times New Roman" panose="02020603050405020304" pitchFamily="18" charset="0"/>
                <a:cs typeface="Times New Roman" panose="02020603050405020304" pitchFamily="18" charset="0"/>
              </a:rPr>
            </a:br>
            <a:r>
              <a:rPr lang="en-US" i="1" dirty="0">
                <a:solidFill>
                  <a:schemeClr val="tx2"/>
                </a:solidFill>
                <a:latin typeface="Times New Roman" panose="02020603050405020304" pitchFamily="18" charset="0"/>
                <a:cs typeface="Times New Roman" panose="02020603050405020304" pitchFamily="18" charset="0"/>
              </a:rPr>
              <a:t>Mool.ai. (2025). Indian Food Delivery Tech Market Report.</a:t>
            </a:r>
            <a:br>
              <a:rPr lang="en-US" i="1" dirty="0">
                <a:solidFill>
                  <a:schemeClr val="tx2"/>
                </a:solidFill>
                <a:latin typeface="Times New Roman" panose="02020603050405020304" pitchFamily="18" charset="0"/>
                <a:cs typeface="Times New Roman" panose="02020603050405020304" pitchFamily="18" charset="0"/>
              </a:rPr>
            </a:br>
            <a:endParaRPr lang="en-US" i="1" dirty="0">
              <a:solidFill>
                <a:schemeClr val="tx2"/>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367E9DF-5C5C-4277-1F2E-13B96699B65D}"/>
              </a:ext>
            </a:extLst>
          </p:cNvPr>
          <p:cNvSpPr txBox="1"/>
          <p:nvPr/>
        </p:nvSpPr>
        <p:spPr>
          <a:xfrm>
            <a:off x="408039" y="5020209"/>
            <a:ext cx="11213690" cy="677108"/>
          </a:xfrm>
          <a:prstGeom prst="rect">
            <a:avLst/>
          </a:prstGeom>
          <a:noFill/>
        </p:spPr>
        <p:txBody>
          <a:bodyPr wrap="square" rtlCol="0">
            <a:spAutoFit/>
          </a:bodyPr>
          <a:lstStyle/>
          <a:p>
            <a:r>
              <a:rPr lang="en-IN" sz="2000" dirty="0">
                <a:solidFill>
                  <a:srgbClr val="006666"/>
                </a:solidFill>
                <a:latin typeface="Times New Roman" panose="02020603050405020304" pitchFamily="18" charset="0"/>
                <a:cs typeface="Times New Roman" panose="02020603050405020304" pitchFamily="18" charset="0"/>
              </a:rPr>
              <a:t>Questionnaire (Customers Data)</a:t>
            </a:r>
          </a:p>
          <a:p>
            <a:r>
              <a:rPr lang="en-IN" dirty="0">
                <a:solidFill>
                  <a:schemeClr val="tx2"/>
                </a:solidFill>
                <a:latin typeface="Times New Roman" panose="02020603050405020304" pitchFamily="18" charset="0"/>
                <a:cs typeface="Times New Roman" panose="02020603050405020304" pitchFamily="18" charset="0"/>
              </a:rPr>
              <a:t>https://docs.google.com/spreadsheets/d/18bzUXbetCb4u9wG6oPWHQ0yGBTTixHc8ZGY96I1dk4I/edit?usp=sharing</a:t>
            </a:r>
          </a:p>
        </p:txBody>
      </p:sp>
    </p:spTree>
    <p:extLst>
      <p:ext uri="{BB962C8B-B14F-4D97-AF65-F5344CB8AC3E}">
        <p14:creationId xmlns:p14="http://schemas.microsoft.com/office/powerpoint/2010/main" val="2373980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001DF036-0AD3-5F77-D9A3-6E175D91842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501928-FB09-0E7A-504D-06969F4EFF2E}"/>
              </a:ext>
            </a:extLst>
          </p:cNvPr>
          <p:cNvSpPr/>
          <p:nvPr/>
        </p:nvSpPr>
        <p:spPr>
          <a:xfrm>
            <a:off x="156000" y="171000"/>
            <a:ext cx="5940000" cy="6516000"/>
          </a:xfrm>
          <a:prstGeom prst="rect">
            <a:avLst/>
          </a:prstGeom>
          <a:solidFill>
            <a:srgbClr val="E23744"/>
          </a:solidFill>
          <a:ln>
            <a:solidFill>
              <a:srgbClr val="E237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2">
            <a:extLst>
              <a:ext uri="{FF2B5EF4-FFF2-40B4-BE49-F238E27FC236}">
                <a16:creationId xmlns:a16="http://schemas.microsoft.com/office/drawing/2014/main" id="{3C341348-0537-87E1-C740-A2D037C906C6}"/>
              </a:ext>
            </a:extLst>
          </p:cNvPr>
          <p:cNvSpPr/>
          <p:nvPr/>
        </p:nvSpPr>
        <p:spPr>
          <a:xfrm>
            <a:off x="6096000" y="171000"/>
            <a:ext cx="5940000" cy="6516000"/>
          </a:xfrm>
          <a:prstGeom prst="rect">
            <a:avLst/>
          </a:prstGeom>
          <a:solidFill>
            <a:srgbClr val="FC8019"/>
          </a:solidFill>
          <a:ln>
            <a:solidFill>
              <a:srgbClr val="FC8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021A7759-3C6E-44DD-EF0F-E6925D87B6FD}"/>
              </a:ext>
            </a:extLst>
          </p:cNvPr>
          <p:cNvSpPr txBox="1"/>
          <p:nvPr/>
        </p:nvSpPr>
        <p:spPr>
          <a:xfrm>
            <a:off x="3888658" y="3075057"/>
            <a:ext cx="4414684" cy="707886"/>
          </a:xfrm>
          <a:prstGeom prst="rect">
            <a:avLst/>
          </a:prstGeom>
          <a:noFill/>
        </p:spPr>
        <p:txBody>
          <a:bodyPr wrap="square" rtlCol="0">
            <a:spAutoFit/>
          </a:bodyPr>
          <a:lstStyle/>
          <a:p>
            <a:pPr algn="ctr"/>
            <a:r>
              <a:rPr lang="en-IN" sz="3600" b="1" i="1" spc="600" dirty="0">
                <a:solidFill>
                  <a:srgbClr val="FFFFFF"/>
                </a:solidFill>
                <a:latin typeface="Algerian" panose="04020705040A02060702" pitchFamily="82" charset="0"/>
              </a:rPr>
              <a:t>THANK</a:t>
            </a:r>
            <a:r>
              <a:rPr lang="en-IN" sz="4000" b="1" i="1" spc="600" dirty="0">
                <a:solidFill>
                  <a:srgbClr val="FFFFFF"/>
                </a:solidFill>
                <a:latin typeface="Algerian" panose="04020705040A02060702" pitchFamily="82" charset="0"/>
              </a:rPr>
              <a:t> </a:t>
            </a:r>
            <a:r>
              <a:rPr lang="en-IN" sz="3600" b="1" i="1" spc="600" dirty="0">
                <a:solidFill>
                  <a:srgbClr val="FFFFFF"/>
                </a:solidFill>
                <a:latin typeface="Algerian" panose="04020705040A02060702" pitchFamily="82" charset="0"/>
              </a:rPr>
              <a:t>YOU</a:t>
            </a:r>
            <a:endParaRPr lang="en-IN" sz="4000" b="1" i="1" spc="600" dirty="0">
              <a:solidFill>
                <a:srgbClr val="FFFFFF"/>
              </a:solidFill>
              <a:latin typeface="Algerian" panose="04020705040A02060702" pitchFamily="82" charset="0"/>
            </a:endParaRPr>
          </a:p>
        </p:txBody>
      </p:sp>
    </p:spTree>
    <p:extLst>
      <p:ext uri="{BB962C8B-B14F-4D97-AF65-F5344CB8AC3E}">
        <p14:creationId xmlns:p14="http://schemas.microsoft.com/office/powerpoint/2010/main" val="3600666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3673</TotalTime>
  <Words>2166</Words>
  <Application>Microsoft Office PowerPoint</Application>
  <PresentationFormat>Widescreen</PresentationFormat>
  <Paragraphs>339</Paragraphs>
  <Slides>24</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Algerian</vt:lpstr>
      <vt:lpstr>Arial</vt:lpstr>
      <vt:lpstr>Arial Black</vt:lpstr>
      <vt:lpstr>Calibri</vt:lpstr>
      <vt:lpstr>Calibri Light</vt:lpstr>
      <vt:lpstr>Sitka Heading</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Vaibhav Kale</dc:creator>
  <cp:lastModifiedBy>Vaibhav Kale</cp:lastModifiedBy>
  <cp:revision>6</cp:revision>
  <dcterms:created xsi:type="dcterms:W3CDTF">2026-04-27T02:33:00Z</dcterms:created>
  <dcterms:modified xsi:type="dcterms:W3CDTF">2026-05-04T15:45:42Z</dcterms:modified>
</cp:coreProperties>
</file>